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Rubik One" charset="1" panose="02000604000000020004"/>
      <p:regular r:id="rId21"/>
    </p:embeddedFont>
    <p:embeddedFont>
      <p:font typeface="Be Vietnam Ultra-Bold" charset="1" panose="00000900000000000000"/>
      <p:regular r:id="rId22"/>
    </p:embeddedFont>
    <p:embeddedFont>
      <p:font typeface="Canva Sans Bold" charset="1" panose="020B08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9.jpeg" Type="http://schemas.openxmlformats.org/officeDocument/2006/relationships/image"/><Relationship Id="rId7" Target="../media/image2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1.jpeg" Type="http://schemas.openxmlformats.org/officeDocument/2006/relationships/image"/><Relationship Id="rId7" Target="../media/image2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75677" y="2175098"/>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54300" y="7908742"/>
            <a:ext cx="6067399" cy="4114800"/>
          </a:xfrm>
          <a:custGeom>
            <a:avLst/>
            <a:gdLst/>
            <a:ahLst/>
            <a:cxnLst/>
            <a:rect r="r" b="b" t="t" l="l"/>
            <a:pathLst>
              <a:path h="4114800" w="6067399">
                <a:moveTo>
                  <a:pt x="0" y="0"/>
                </a:moveTo>
                <a:lnTo>
                  <a:pt x="6067400" y="0"/>
                </a:lnTo>
                <a:lnTo>
                  <a:pt x="60674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96341" y="6819372"/>
            <a:ext cx="5322984" cy="1699613"/>
          </a:xfrm>
          <a:custGeom>
            <a:avLst/>
            <a:gdLst/>
            <a:ahLst/>
            <a:cxnLst/>
            <a:rect r="r" b="b" t="t" l="l"/>
            <a:pathLst>
              <a:path h="1699613" w="5322984">
                <a:moveTo>
                  <a:pt x="0" y="0"/>
                </a:moveTo>
                <a:lnTo>
                  <a:pt x="5322985" y="0"/>
                </a:lnTo>
                <a:lnTo>
                  <a:pt x="5322985" y="1699612"/>
                </a:lnTo>
                <a:lnTo>
                  <a:pt x="0" y="16996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5920133" y="-1028174"/>
            <a:ext cx="3573631" cy="3203273"/>
          </a:xfrm>
          <a:custGeom>
            <a:avLst/>
            <a:gdLst/>
            <a:ahLst/>
            <a:cxnLst/>
            <a:rect r="r" b="b" t="t" l="l"/>
            <a:pathLst>
              <a:path h="3203273" w="3573631">
                <a:moveTo>
                  <a:pt x="3573631" y="3203272"/>
                </a:moveTo>
                <a:lnTo>
                  <a:pt x="0" y="3203272"/>
                </a:lnTo>
                <a:lnTo>
                  <a:pt x="0" y="0"/>
                </a:lnTo>
                <a:lnTo>
                  <a:pt x="3573631" y="0"/>
                </a:lnTo>
                <a:lnTo>
                  <a:pt x="3573631" y="320327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304026" y="1791528"/>
            <a:ext cx="8115300" cy="6703943"/>
          </a:xfrm>
          <a:custGeom>
            <a:avLst/>
            <a:gdLst/>
            <a:ahLst/>
            <a:cxnLst/>
            <a:rect r="r" b="b" t="t" l="l"/>
            <a:pathLst>
              <a:path h="6703943" w="8115300">
                <a:moveTo>
                  <a:pt x="0" y="0"/>
                </a:moveTo>
                <a:lnTo>
                  <a:pt x="8115300" y="0"/>
                </a:lnTo>
                <a:lnTo>
                  <a:pt x="8115300" y="6703944"/>
                </a:lnTo>
                <a:lnTo>
                  <a:pt x="0" y="67039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205764" y="8149159"/>
            <a:ext cx="3532066" cy="3166015"/>
          </a:xfrm>
          <a:custGeom>
            <a:avLst/>
            <a:gdLst/>
            <a:ahLst/>
            <a:cxnLst/>
            <a:rect r="r" b="b" t="t" l="l"/>
            <a:pathLst>
              <a:path h="3166015" w="3532066">
                <a:moveTo>
                  <a:pt x="0" y="0"/>
                </a:moveTo>
                <a:lnTo>
                  <a:pt x="3532066" y="0"/>
                </a:lnTo>
                <a:lnTo>
                  <a:pt x="3532066" y="3166015"/>
                </a:lnTo>
                <a:lnTo>
                  <a:pt x="0" y="31660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1028700" y="6202599"/>
            <a:ext cx="7504028" cy="335403"/>
            <a:chOff x="0" y="0"/>
            <a:chExt cx="2084786" cy="93182"/>
          </a:xfrm>
        </p:grpSpPr>
        <p:sp>
          <p:nvSpPr>
            <p:cNvPr name="Freeform 9" id="9"/>
            <p:cNvSpPr/>
            <p:nvPr/>
          </p:nvSpPr>
          <p:spPr>
            <a:xfrm flipH="false" flipV="false" rot="0">
              <a:off x="0" y="0"/>
              <a:ext cx="2084787" cy="93182"/>
            </a:xfrm>
            <a:custGeom>
              <a:avLst/>
              <a:gdLst/>
              <a:ahLst/>
              <a:cxnLst/>
              <a:rect r="r" b="b" t="t" l="l"/>
              <a:pathLst>
                <a:path h="93182" w="2084787">
                  <a:moveTo>
                    <a:pt x="46591" y="0"/>
                  </a:moveTo>
                  <a:lnTo>
                    <a:pt x="2038195" y="0"/>
                  </a:lnTo>
                  <a:cubicBezTo>
                    <a:pt x="2050552" y="0"/>
                    <a:pt x="2062403" y="4909"/>
                    <a:pt x="2071140" y="13646"/>
                  </a:cubicBezTo>
                  <a:cubicBezTo>
                    <a:pt x="2079878" y="22384"/>
                    <a:pt x="2084787" y="34234"/>
                    <a:pt x="2084787" y="46591"/>
                  </a:cubicBezTo>
                  <a:lnTo>
                    <a:pt x="2084787" y="46591"/>
                  </a:lnTo>
                  <a:cubicBezTo>
                    <a:pt x="2084787" y="58948"/>
                    <a:pt x="2079878" y="70799"/>
                    <a:pt x="2071140" y="79536"/>
                  </a:cubicBezTo>
                  <a:cubicBezTo>
                    <a:pt x="2062403" y="88274"/>
                    <a:pt x="2050552" y="93182"/>
                    <a:pt x="2038195" y="93182"/>
                  </a:cubicBezTo>
                  <a:lnTo>
                    <a:pt x="46591" y="93182"/>
                  </a:lnTo>
                  <a:cubicBezTo>
                    <a:pt x="34234" y="93182"/>
                    <a:pt x="22384" y="88274"/>
                    <a:pt x="13646" y="79536"/>
                  </a:cubicBezTo>
                  <a:cubicBezTo>
                    <a:pt x="4909" y="70799"/>
                    <a:pt x="0" y="58948"/>
                    <a:pt x="0" y="46591"/>
                  </a:cubicBezTo>
                  <a:lnTo>
                    <a:pt x="0" y="46591"/>
                  </a:lnTo>
                  <a:cubicBezTo>
                    <a:pt x="0" y="34234"/>
                    <a:pt x="4909" y="22384"/>
                    <a:pt x="13646" y="13646"/>
                  </a:cubicBezTo>
                  <a:cubicBezTo>
                    <a:pt x="22384" y="4909"/>
                    <a:pt x="34234" y="0"/>
                    <a:pt x="46591" y="0"/>
                  </a:cubicBezTo>
                  <a:close/>
                </a:path>
              </a:pathLst>
            </a:custGeom>
            <a:solidFill>
              <a:srgbClr val="5FA8C7"/>
            </a:solidFill>
          </p:spPr>
        </p:sp>
        <p:sp>
          <p:nvSpPr>
            <p:cNvPr name="TextBox 10" id="10"/>
            <p:cNvSpPr txBox="true"/>
            <p:nvPr/>
          </p:nvSpPr>
          <p:spPr>
            <a:xfrm>
              <a:off x="0" y="-38100"/>
              <a:ext cx="2084786" cy="13128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93966" y="2618901"/>
            <a:ext cx="6347675" cy="3393198"/>
          </a:xfrm>
          <a:prstGeom prst="rect">
            <a:avLst/>
          </a:prstGeom>
        </p:spPr>
        <p:txBody>
          <a:bodyPr anchor="t" rtlCol="false" tIns="0" lIns="0" bIns="0" rIns="0">
            <a:spAutoFit/>
          </a:bodyPr>
          <a:lstStyle/>
          <a:p>
            <a:pPr algn="l">
              <a:lnSpc>
                <a:spcPts val="5348"/>
              </a:lnSpc>
            </a:pPr>
            <a:r>
              <a:rPr lang="en-US" sz="4862">
                <a:solidFill>
                  <a:srgbClr val="000000"/>
                </a:solidFill>
                <a:latin typeface="Rubik One"/>
                <a:ea typeface="Rubik One"/>
                <a:cs typeface="Rubik One"/>
                <a:sym typeface="Rubik One"/>
              </a:rPr>
              <a:t>MICROCODED ATM SYSTEM WITH PIN</a:t>
            </a:r>
            <a:r>
              <a:rPr lang="en-US" sz="4862">
                <a:solidFill>
                  <a:srgbClr val="000000"/>
                </a:solidFill>
                <a:latin typeface="Rubik One"/>
                <a:ea typeface="Rubik One"/>
                <a:cs typeface="Rubik One"/>
                <a:sym typeface="Rubik One"/>
              </a:rPr>
              <a:t> AUTHENTICATION AND BALANCE PROCESSOR</a:t>
            </a:r>
          </a:p>
        </p:txBody>
      </p:sp>
      <p:sp>
        <p:nvSpPr>
          <p:cNvPr name="Freeform 12" id="12"/>
          <p:cNvSpPr/>
          <p:nvPr/>
        </p:nvSpPr>
        <p:spPr>
          <a:xfrm flipH="false" flipV="false" rot="0">
            <a:off x="1093966" y="1355877"/>
            <a:ext cx="696251" cy="1023899"/>
          </a:xfrm>
          <a:custGeom>
            <a:avLst/>
            <a:gdLst/>
            <a:ahLst/>
            <a:cxnLst/>
            <a:rect r="r" b="b" t="t" l="l"/>
            <a:pathLst>
              <a:path h="1023899" w="696251">
                <a:moveTo>
                  <a:pt x="0" y="0"/>
                </a:moveTo>
                <a:lnTo>
                  <a:pt x="696251" y="0"/>
                </a:lnTo>
                <a:lnTo>
                  <a:pt x="696251" y="1023899"/>
                </a:lnTo>
                <a:lnTo>
                  <a:pt x="0" y="10238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2027723" y="1633248"/>
            <a:ext cx="2605741" cy="491737"/>
          </a:xfrm>
          <a:prstGeom prst="rect">
            <a:avLst/>
          </a:prstGeom>
        </p:spPr>
        <p:txBody>
          <a:bodyPr anchor="t" rtlCol="false" tIns="0" lIns="0" bIns="0" rIns="0">
            <a:spAutoFit/>
          </a:bodyPr>
          <a:lstStyle/>
          <a:p>
            <a:pPr algn="l">
              <a:lnSpc>
                <a:spcPts val="3816"/>
              </a:lnSpc>
            </a:pPr>
            <a:r>
              <a:rPr lang="en-US" sz="3469" b="true">
                <a:solidFill>
                  <a:srgbClr val="000000"/>
                </a:solidFill>
                <a:latin typeface="Be Vietnam Ultra-Bold"/>
                <a:ea typeface="Be Vietnam Ultra-Bold"/>
                <a:cs typeface="Be Vietnam Ultra-Bold"/>
                <a:sym typeface="Be Vietnam Ultra-Bold"/>
              </a:rPr>
              <a:t>GROUP 20</a:t>
            </a:r>
          </a:p>
        </p:txBody>
      </p:sp>
      <p:sp>
        <p:nvSpPr>
          <p:cNvPr name="TextBox 14" id="14"/>
          <p:cNvSpPr txBox="true"/>
          <p:nvPr/>
        </p:nvSpPr>
        <p:spPr>
          <a:xfrm rot="0">
            <a:off x="1028700" y="6638698"/>
            <a:ext cx="11536073" cy="1856774"/>
          </a:xfrm>
          <a:prstGeom prst="rect">
            <a:avLst/>
          </a:prstGeom>
        </p:spPr>
        <p:txBody>
          <a:bodyPr anchor="t" rtlCol="false" tIns="0" lIns="0" bIns="0" rIns="0">
            <a:spAutoFit/>
          </a:bodyPr>
          <a:lstStyle/>
          <a:p>
            <a:pPr algn="l">
              <a:lnSpc>
                <a:spcPts val="3708"/>
              </a:lnSpc>
              <a:spcBef>
                <a:spcPct val="0"/>
              </a:spcBef>
            </a:pPr>
            <a:r>
              <a:rPr lang="en-US" b="true" sz="2648">
                <a:solidFill>
                  <a:srgbClr val="000000"/>
                </a:solidFill>
                <a:latin typeface="Canva Sans Bold"/>
                <a:ea typeface="Canva Sans Bold"/>
                <a:cs typeface="Canva Sans Bold"/>
                <a:sym typeface="Canva Sans Bold"/>
              </a:rPr>
              <a:t>MARSHAL AUFA DILIYANA 2406346913</a:t>
            </a:r>
          </a:p>
          <a:p>
            <a:pPr algn="l">
              <a:lnSpc>
                <a:spcPts val="3708"/>
              </a:lnSpc>
              <a:spcBef>
                <a:spcPct val="0"/>
              </a:spcBef>
            </a:pPr>
            <a:r>
              <a:rPr lang="en-US" b="true" sz="2648">
                <a:solidFill>
                  <a:srgbClr val="000000"/>
                </a:solidFill>
                <a:latin typeface="Canva Sans Bold"/>
                <a:ea typeface="Canva Sans Bold"/>
                <a:cs typeface="Canva Sans Bold"/>
                <a:sym typeface="Canva Sans Bold"/>
              </a:rPr>
              <a:t>ZAHIR 2406487084</a:t>
            </a:r>
          </a:p>
          <a:p>
            <a:pPr algn="l">
              <a:lnSpc>
                <a:spcPts val="3708"/>
              </a:lnSpc>
              <a:spcBef>
                <a:spcPct val="0"/>
              </a:spcBef>
            </a:pPr>
            <a:r>
              <a:rPr lang="en-US" b="true" sz="2648">
                <a:solidFill>
                  <a:srgbClr val="000000"/>
                </a:solidFill>
                <a:latin typeface="Canva Sans Bold"/>
                <a:ea typeface="Canva Sans Bold"/>
                <a:cs typeface="Canva Sans Bold"/>
                <a:sym typeface="Canva Sans Bold"/>
              </a:rPr>
              <a:t>THALITA SALMA ARTANTI 2406419354</a:t>
            </a:r>
          </a:p>
          <a:p>
            <a:pPr algn="l">
              <a:lnSpc>
                <a:spcPts val="3708"/>
              </a:lnSpc>
              <a:spcBef>
                <a:spcPct val="0"/>
              </a:spcBef>
            </a:pPr>
            <a:r>
              <a:rPr lang="en-US" b="true" sz="2648">
                <a:solidFill>
                  <a:srgbClr val="000000"/>
                </a:solidFill>
                <a:latin typeface="Canva Sans Bold"/>
                <a:ea typeface="Canva Sans Bold"/>
                <a:cs typeface="Canva Sans Bold"/>
                <a:sym typeface="Canva Sans Bold"/>
              </a:rPr>
              <a:t>CAESAR NUR FALAH WIDIYANTO  2406487052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true" rot="0">
            <a:off x="15920133" y="-1028174"/>
            <a:ext cx="3573631" cy="3203273"/>
          </a:xfrm>
          <a:custGeom>
            <a:avLst/>
            <a:gdLst/>
            <a:ahLst/>
            <a:cxnLst/>
            <a:rect r="r" b="b" t="t" l="l"/>
            <a:pathLst>
              <a:path h="3203273" w="3573631">
                <a:moveTo>
                  <a:pt x="3573631" y="3203272"/>
                </a:moveTo>
                <a:lnTo>
                  <a:pt x="0" y="3203272"/>
                </a:lnTo>
                <a:lnTo>
                  <a:pt x="0" y="0"/>
                </a:lnTo>
                <a:lnTo>
                  <a:pt x="3573631" y="0"/>
                </a:lnTo>
                <a:lnTo>
                  <a:pt x="3573631" y="320327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5764" y="8149159"/>
            <a:ext cx="3532066" cy="3166015"/>
          </a:xfrm>
          <a:custGeom>
            <a:avLst/>
            <a:gdLst/>
            <a:ahLst/>
            <a:cxnLst/>
            <a:rect r="r" b="b" t="t" l="l"/>
            <a:pathLst>
              <a:path h="3166015" w="3532066">
                <a:moveTo>
                  <a:pt x="0" y="0"/>
                </a:moveTo>
                <a:lnTo>
                  <a:pt x="3532066" y="0"/>
                </a:lnTo>
                <a:lnTo>
                  <a:pt x="3532066" y="3166015"/>
                </a:lnTo>
                <a:lnTo>
                  <a:pt x="0" y="3166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677151" y="3721224"/>
            <a:ext cx="10933698" cy="5699478"/>
            <a:chOff x="0" y="0"/>
            <a:chExt cx="3037625" cy="1583442"/>
          </a:xfrm>
        </p:grpSpPr>
        <p:sp>
          <p:nvSpPr>
            <p:cNvPr name="Freeform 5" id="5"/>
            <p:cNvSpPr/>
            <p:nvPr/>
          </p:nvSpPr>
          <p:spPr>
            <a:xfrm flipH="false" flipV="false" rot="0">
              <a:off x="0" y="0"/>
              <a:ext cx="3037625" cy="1583442"/>
            </a:xfrm>
            <a:custGeom>
              <a:avLst/>
              <a:gdLst/>
              <a:ahLst/>
              <a:cxnLst/>
              <a:rect r="r" b="b" t="t" l="l"/>
              <a:pathLst>
                <a:path h="1583442" w="3037625">
                  <a:moveTo>
                    <a:pt x="33988" y="0"/>
                  </a:moveTo>
                  <a:lnTo>
                    <a:pt x="3003637" y="0"/>
                  </a:lnTo>
                  <a:cubicBezTo>
                    <a:pt x="3022408" y="0"/>
                    <a:pt x="3037625" y="15217"/>
                    <a:pt x="3037625" y="33988"/>
                  </a:cubicBezTo>
                  <a:lnTo>
                    <a:pt x="3037625" y="1549454"/>
                  </a:lnTo>
                  <a:cubicBezTo>
                    <a:pt x="3037625" y="1568225"/>
                    <a:pt x="3022408" y="1583442"/>
                    <a:pt x="3003637" y="1583442"/>
                  </a:cubicBezTo>
                  <a:lnTo>
                    <a:pt x="33988" y="1583442"/>
                  </a:lnTo>
                  <a:cubicBezTo>
                    <a:pt x="15217" y="1583442"/>
                    <a:pt x="0" y="1568225"/>
                    <a:pt x="0" y="1549454"/>
                  </a:cubicBezTo>
                  <a:lnTo>
                    <a:pt x="0" y="33988"/>
                  </a:lnTo>
                  <a:cubicBezTo>
                    <a:pt x="0" y="15217"/>
                    <a:pt x="15217" y="0"/>
                    <a:pt x="33988" y="0"/>
                  </a:cubicBezTo>
                  <a:close/>
                </a:path>
              </a:pathLst>
            </a:custGeom>
            <a:solidFill>
              <a:srgbClr val="5FA8C7"/>
            </a:solidFill>
          </p:spPr>
        </p:sp>
        <p:sp>
          <p:nvSpPr>
            <p:cNvPr name="TextBox 6" id="6"/>
            <p:cNvSpPr txBox="true"/>
            <p:nvPr/>
          </p:nvSpPr>
          <p:spPr>
            <a:xfrm>
              <a:off x="0" y="-38100"/>
              <a:ext cx="3037625" cy="1621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753888" y="968339"/>
            <a:ext cx="8780224" cy="2473597"/>
          </a:xfrm>
          <a:prstGeom prst="rect">
            <a:avLst/>
          </a:prstGeom>
        </p:spPr>
        <p:txBody>
          <a:bodyPr anchor="t" rtlCol="false" tIns="0" lIns="0" bIns="0" rIns="0">
            <a:spAutoFit/>
          </a:bodyPr>
          <a:lstStyle/>
          <a:p>
            <a:pPr algn="ctr">
              <a:lnSpc>
                <a:spcPts val="9648"/>
              </a:lnSpc>
            </a:pPr>
            <a:r>
              <a:rPr lang="en-US" sz="8771">
                <a:solidFill>
                  <a:srgbClr val="000000"/>
                </a:solidFill>
                <a:latin typeface="Rubik One"/>
                <a:ea typeface="Rubik One"/>
                <a:cs typeface="Rubik One"/>
                <a:sym typeface="Rubik One"/>
              </a:rPr>
              <a:t>DESKRIPSI PROYEK</a:t>
            </a:r>
          </a:p>
        </p:txBody>
      </p:sp>
      <p:sp>
        <p:nvSpPr>
          <p:cNvPr name="TextBox 8" id="8"/>
          <p:cNvSpPr txBox="true"/>
          <p:nvPr/>
        </p:nvSpPr>
        <p:spPr>
          <a:xfrm rot="0">
            <a:off x="4140339" y="4048601"/>
            <a:ext cx="10007321" cy="4476750"/>
          </a:xfrm>
          <a:prstGeom prst="rect">
            <a:avLst/>
          </a:prstGeom>
        </p:spPr>
        <p:txBody>
          <a:bodyPr anchor="t" rtlCol="false" tIns="0" lIns="0" bIns="0" rIns="0">
            <a:spAutoFit/>
          </a:bodyPr>
          <a:lstStyle/>
          <a:p>
            <a:pPr algn="just">
              <a:lnSpc>
                <a:spcPts val="3582"/>
              </a:lnSpc>
            </a:pPr>
            <a:r>
              <a:rPr lang="en-US" sz="2985" b="true">
                <a:solidFill>
                  <a:srgbClr val="000000"/>
                </a:solidFill>
                <a:latin typeface="Be Vietnam Ultra-Bold"/>
                <a:ea typeface="Be Vietnam Ultra-Bold"/>
                <a:cs typeface="Be Vietnam Ultra-Bold"/>
                <a:sym typeface="Be Vietnam Ultra-Bold"/>
              </a:rPr>
              <a:t>Proyek ini mengimplementasikan sistem ATM digital pada platform FPGA DE1-SoC menggunakan</a:t>
            </a:r>
            <a:r>
              <a:rPr lang="en-US" sz="2985" b="true">
                <a:solidFill>
                  <a:srgbClr val="000000"/>
                </a:solidFill>
                <a:latin typeface="Be Vietnam Ultra-Bold"/>
                <a:ea typeface="Be Vietnam Ultra-Bold"/>
                <a:cs typeface="Be Vietnam Ultra-Bold"/>
                <a:sym typeface="Be Vietnam Ultra-Bold"/>
              </a:rPr>
              <a:t> VHDL. Sistem ini mensimulasikan pengendali ATM yang mampu melakukan autentikasi PIN secara hardware, mengelola saldo dengan memori RAM sinkron, dan mengatur keluaran melalui unit kendali berbasis microcode. Seluruh modul diintegrasikan ke dalam satu entitas top-level (atm_top) sehingga membentuk satu sistem ATM yang utuh.</a:t>
            </a:r>
          </a:p>
          <a:p>
            <a:pPr algn="just">
              <a:lnSpc>
                <a:spcPts val="3582"/>
              </a:lnSpc>
            </a:pPr>
          </a:p>
        </p:txBody>
      </p:sp>
      <p:sp>
        <p:nvSpPr>
          <p:cNvPr name="Freeform 9" id="9"/>
          <p:cNvSpPr/>
          <p:nvPr/>
        </p:nvSpPr>
        <p:spPr>
          <a:xfrm flipH="false" flipV="true" rot="0">
            <a:off x="15900401"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510195" y="-1660797"/>
            <a:ext cx="4897794" cy="3321595"/>
          </a:xfrm>
          <a:custGeom>
            <a:avLst/>
            <a:gdLst/>
            <a:ahLst/>
            <a:cxnLst/>
            <a:rect r="r" b="b" t="t" l="l"/>
            <a:pathLst>
              <a:path h="3321595" w="4897794">
                <a:moveTo>
                  <a:pt x="0" y="0"/>
                </a:moveTo>
                <a:lnTo>
                  <a:pt x="4897794" y="0"/>
                </a:lnTo>
                <a:lnTo>
                  <a:pt x="4897794" y="3321594"/>
                </a:lnTo>
                <a:lnTo>
                  <a:pt x="0" y="3321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5661427" y="5528159"/>
            <a:ext cx="1078490" cy="1011820"/>
          </a:xfrm>
          <a:custGeom>
            <a:avLst/>
            <a:gdLst/>
            <a:ahLst/>
            <a:cxnLst/>
            <a:rect r="r" b="b" t="t" l="l"/>
            <a:pathLst>
              <a:path h="1011820" w="1078490">
                <a:moveTo>
                  <a:pt x="0" y="0"/>
                </a:moveTo>
                <a:lnTo>
                  <a:pt x="1078490" y="0"/>
                </a:lnTo>
                <a:lnTo>
                  <a:pt x="1078490" y="1011820"/>
                </a:lnTo>
                <a:lnTo>
                  <a:pt x="0" y="1011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false" rot="0">
            <a:off x="1548083" y="5528159"/>
            <a:ext cx="1078490" cy="1011820"/>
          </a:xfrm>
          <a:custGeom>
            <a:avLst/>
            <a:gdLst/>
            <a:ahLst/>
            <a:cxnLst/>
            <a:rect r="r" b="b" t="t" l="l"/>
            <a:pathLst>
              <a:path h="1011820" w="1078490">
                <a:moveTo>
                  <a:pt x="1078490" y="0"/>
                </a:moveTo>
                <a:lnTo>
                  <a:pt x="0" y="0"/>
                </a:lnTo>
                <a:lnTo>
                  <a:pt x="0" y="1011820"/>
                </a:lnTo>
                <a:lnTo>
                  <a:pt x="1078490" y="1011820"/>
                </a:lnTo>
                <a:lnTo>
                  <a:pt x="107849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419539" y="-9560998"/>
            <a:ext cx="23655103" cy="21319813"/>
            <a:chOff x="0" y="0"/>
            <a:chExt cx="1556911" cy="1403209"/>
          </a:xfrm>
        </p:grpSpPr>
        <p:sp>
          <p:nvSpPr>
            <p:cNvPr name="Freeform 3" id="3"/>
            <p:cNvSpPr/>
            <p:nvPr/>
          </p:nvSpPr>
          <p:spPr>
            <a:xfrm flipH="false" flipV="false" rot="0">
              <a:off x="0" y="0"/>
              <a:ext cx="1556911" cy="1403209"/>
            </a:xfrm>
            <a:custGeom>
              <a:avLst/>
              <a:gdLst/>
              <a:ahLst/>
              <a:cxnLst/>
              <a:rect r="r" b="b" t="t" l="l"/>
              <a:pathLst>
                <a:path h="1403209" w="1556911">
                  <a:moveTo>
                    <a:pt x="778455" y="0"/>
                  </a:moveTo>
                  <a:cubicBezTo>
                    <a:pt x="348526" y="0"/>
                    <a:pt x="0" y="314119"/>
                    <a:pt x="0" y="701604"/>
                  </a:cubicBezTo>
                  <a:cubicBezTo>
                    <a:pt x="0" y="1089090"/>
                    <a:pt x="348526" y="1403209"/>
                    <a:pt x="778455" y="1403209"/>
                  </a:cubicBezTo>
                  <a:cubicBezTo>
                    <a:pt x="1208384" y="1403209"/>
                    <a:pt x="1556911" y="1089090"/>
                    <a:pt x="1556911" y="701604"/>
                  </a:cubicBezTo>
                  <a:cubicBezTo>
                    <a:pt x="1556911" y="314119"/>
                    <a:pt x="1208384" y="0"/>
                    <a:pt x="778455" y="0"/>
                  </a:cubicBezTo>
                  <a:close/>
                </a:path>
              </a:pathLst>
            </a:custGeom>
            <a:solidFill>
              <a:srgbClr val="5FA8C7"/>
            </a:solidFill>
          </p:spPr>
        </p:sp>
        <p:sp>
          <p:nvSpPr>
            <p:cNvPr name="TextBox 4" id="4"/>
            <p:cNvSpPr txBox="true"/>
            <p:nvPr/>
          </p:nvSpPr>
          <p:spPr>
            <a:xfrm>
              <a:off x="145960" y="93451"/>
              <a:ext cx="1264990" cy="117820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798739" y="7026243"/>
            <a:ext cx="14082975" cy="9465146"/>
            <a:chOff x="0" y="0"/>
            <a:chExt cx="1548763" cy="1040921"/>
          </a:xfrm>
        </p:grpSpPr>
        <p:sp>
          <p:nvSpPr>
            <p:cNvPr name="Freeform 6" id="6"/>
            <p:cNvSpPr/>
            <p:nvPr/>
          </p:nvSpPr>
          <p:spPr>
            <a:xfrm flipH="false" flipV="false" rot="0">
              <a:off x="0" y="0"/>
              <a:ext cx="1548763" cy="1040921"/>
            </a:xfrm>
            <a:custGeom>
              <a:avLst/>
              <a:gdLst/>
              <a:ahLst/>
              <a:cxnLst/>
              <a:rect r="r" b="b" t="t" l="l"/>
              <a:pathLst>
                <a:path h="1040921" w="1548763">
                  <a:moveTo>
                    <a:pt x="774382" y="0"/>
                  </a:moveTo>
                  <a:cubicBezTo>
                    <a:pt x="346702" y="0"/>
                    <a:pt x="0" y="233018"/>
                    <a:pt x="0" y="520461"/>
                  </a:cubicBezTo>
                  <a:cubicBezTo>
                    <a:pt x="0" y="807903"/>
                    <a:pt x="346702" y="1040921"/>
                    <a:pt x="774382" y="1040921"/>
                  </a:cubicBezTo>
                  <a:cubicBezTo>
                    <a:pt x="1202061" y="1040921"/>
                    <a:pt x="1548763" y="807903"/>
                    <a:pt x="1548763" y="520461"/>
                  </a:cubicBezTo>
                  <a:cubicBezTo>
                    <a:pt x="1548763" y="233018"/>
                    <a:pt x="1202061" y="0"/>
                    <a:pt x="774382" y="0"/>
                  </a:cubicBezTo>
                  <a:close/>
                </a:path>
              </a:pathLst>
            </a:custGeom>
            <a:solidFill>
              <a:srgbClr val="8DC8A3"/>
            </a:solidFill>
          </p:spPr>
        </p:sp>
        <p:sp>
          <p:nvSpPr>
            <p:cNvPr name="TextBox 7" id="7"/>
            <p:cNvSpPr txBox="true"/>
            <p:nvPr/>
          </p:nvSpPr>
          <p:spPr>
            <a:xfrm>
              <a:off x="145197" y="59486"/>
              <a:ext cx="1258370" cy="88384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1640434" y="3564280"/>
            <a:ext cx="7769951" cy="4996883"/>
          </a:xfrm>
          <a:custGeom>
            <a:avLst/>
            <a:gdLst/>
            <a:ahLst/>
            <a:cxnLst/>
            <a:rect r="r" b="b" t="t" l="l"/>
            <a:pathLst>
              <a:path h="4996883" w="7769951">
                <a:moveTo>
                  <a:pt x="0" y="0"/>
                </a:moveTo>
                <a:lnTo>
                  <a:pt x="7769951" y="0"/>
                </a:lnTo>
                <a:lnTo>
                  <a:pt x="7769951" y="4996882"/>
                </a:lnTo>
                <a:lnTo>
                  <a:pt x="0" y="49968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6955752" y="440558"/>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294284" y="4821377"/>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574552" y="1903634"/>
            <a:ext cx="10706024" cy="1203324"/>
          </a:xfrm>
          <a:prstGeom prst="rect">
            <a:avLst/>
          </a:prstGeom>
        </p:spPr>
        <p:txBody>
          <a:bodyPr anchor="t" rtlCol="false" tIns="0" lIns="0" bIns="0" rIns="0">
            <a:spAutoFit/>
          </a:bodyPr>
          <a:lstStyle/>
          <a:p>
            <a:pPr algn="l">
              <a:lnSpc>
                <a:spcPts val="9349"/>
              </a:lnSpc>
            </a:pPr>
            <a:r>
              <a:rPr lang="en-US" sz="8499">
                <a:solidFill>
                  <a:srgbClr val="000000"/>
                </a:solidFill>
                <a:latin typeface="Rubik One"/>
                <a:ea typeface="Rubik One"/>
                <a:cs typeface="Rubik One"/>
                <a:sym typeface="Rubik One"/>
              </a:rPr>
              <a:t>LATAR B</a:t>
            </a:r>
            <a:r>
              <a:rPr lang="en-US" sz="8499">
                <a:solidFill>
                  <a:srgbClr val="000000"/>
                </a:solidFill>
                <a:latin typeface="Rubik One"/>
                <a:ea typeface="Rubik One"/>
                <a:cs typeface="Rubik One"/>
                <a:sym typeface="Rubik One"/>
              </a:rPr>
              <a:t>ELAKANG</a:t>
            </a:r>
          </a:p>
        </p:txBody>
      </p:sp>
      <p:sp>
        <p:nvSpPr>
          <p:cNvPr name="TextBox 12" id="12"/>
          <p:cNvSpPr txBox="true"/>
          <p:nvPr/>
        </p:nvSpPr>
        <p:spPr>
          <a:xfrm rot="0">
            <a:off x="1028700" y="3413428"/>
            <a:ext cx="10220637" cy="6157973"/>
          </a:xfrm>
          <a:prstGeom prst="rect">
            <a:avLst/>
          </a:prstGeom>
        </p:spPr>
        <p:txBody>
          <a:bodyPr anchor="t" rtlCol="false" tIns="0" lIns="0" bIns="0" rIns="0">
            <a:spAutoFit/>
          </a:bodyPr>
          <a:lstStyle/>
          <a:p>
            <a:pPr algn="just" marL="687666" indent="-343833" lvl="1">
              <a:lnSpc>
                <a:spcPts val="4459"/>
              </a:lnSpc>
              <a:buFont typeface="Arial"/>
              <a:buChar char="•"/>
            </a:pPr>
            <a:r>
              <a:rPr lang="en-US" b="true" sz="3185">
                <a:solidFill>
                  <a:srgbClr val="000000"/>
                </a:solidFill>
                <a:latin typeface="Be Vietnam Ultra-Bold"/>
                <a:ea typeface="Be Vietnam Ultra-Bold"/>
                <a:cs typeface="Be Vietnam Ultra-Bold"/>
                <a:sym typeface="Be Vietnam Ultra-Bold"/>
              </a:rPr>
              <a:t>Mesin ATM membutuhkan keamanan tinggi dan pemrosesan cepat.</a:t>
            </a:r>
          </a:p>
          <a:p>
            <a:pPr algn="just" marL="687666" indent="-343833" lvl="1">
              <a:lnSpc>
                <a:spcPts val="4459"/>
              </a:lnSpc>
              <a:buFont typeface="Arial"/>
              <a:buChar char="•"/>
            </a:pPr>
            <a:r>
              <a:rPr lang="en-US" b="true" sz="3185">
                <a:solidFill>
                  <a:srgbClr val="000000"/>
                </a:solidFill>
                <a:latin typeface="Be Vietnam Ultra-Bold"/>
                <a:ea typeface="Be Vietnam Ultra-Bold"/>
                <a:cs typeface="Be Vietnam Ultra-Bold"/>
                <a:sym typeface="Be Vietnam Ultra-Bold"/>
              </a:rPr>
              <a:t>Sebagian besar ATM konvensional berbasis mikrokontroler dengan eksekusi instruksi sekuensial.</a:t>
            </a:r>
          </a:p>
          <a:p>
            <a:pPr algn="just" marL="687666" indent="-343833" lvl="1">
              <a:lnSpc>
                <a:spcPts val="4459"/>
              </a:lnSpc>
              <a:buFont typeface="Arial"/>
              <a:buChar char="•"/>
            </a:pPr>
            <a:r>
              <a:rPr lang="en-US" b="true" sz="3185">
                <a:solidFill>
                  <a:srgbClr val="000000"/>
                </a:solidFill>
                <a:latin typeface="Be Vietnam Ultra-Bold"/>
                <a:ea typeface="Be Vietnam Ultra-Bold"/>
                <a:cs typeface="Be Vietnam Ultra-Bold"/>
                <a:sym typeface="Be Vietnam Ultra-Bold"/>
              </a:rPr>
              <a:t>Pendeka</a:t>
            </a:r>
            <a:r>
              <a:rPr lang="en-US" b="true" sz="3185">
                <a:solidFill>
                  <a:srgbClr val="000000"/>
                </a:solidFill>
                <a:latin typeface="Be Vietnam Ultra-Bold"/>
                <a:ea typeface="Be Vietnam Ultra-Bold"/>
                <a:cs typeface="Be Vietnam Ultra-Bold"/>
                <a:sym typeface="Be Vietnam Ultra-Bold"/>
              </a:rPr>
              <a:t>tan ini memiliki keterbatasan: latensi pemrosesan lebih besar dan lebih rentan terhadap serangan berbasis software.</a:t>
            </a:r>
          </a:p>
          <a:p>
            <a:pPr algn="just" marL="687666" indent="-343833" lvl="1">
              <a:lnSpc>
                <a:spcPts val="4459"/>
              </a:lnSpc>
              <a:buFont typeface="Arial"/>
              <a:buChar char="•"/>
            </a:pPr>
            <a:r>
              <a:rPr lang="en-US" b="true" sz="3185">
                <a:solidFill>
                  <a:srgbClr val="000000"/>
                </a:solidFill>
                <a:latin typeface="Be Vietnam Ultra-Bold"/>
                <a:ea typeface="Be Vietnam Ultra-Bold"/>
                <a:cs typeface="Be Vietnam Ultra-Bold"/>
                <a:sym typeface="Be Vietnam Ultra-Bold"/>
              </a:rPr>
              <a:t>FPGA menawarkan pemrosesan paralel, lebih deterministik, dan lebih aman untuk mengimplementasikan logika pengendali ATM.</a:t>
            </a:r>
          </a:p>
        </p:txBody>
      </p:sp>
      <p:sp>
        <p:nvSpPr>
          <p:cNvPr name="Freeform 13" id="13"/>
          <p:cNvSpPr/>
          <p:nvPr/>
        </p:nvSpPr>
        <p:spPr>
          <a:xfrm flipH="false" flipV="false" rot="0">
            <a:off x="13609986" y="737098"/>
            <a:ext cx="1078490" cy="1011820"/>
          </a:xfrm>
          <a:custGeom>
            <a:avLst/>
            <a:gdLst/>
            <a:ahLst/>
            <a:cxnLst/>
            <a:rect r="r" b="b" t="t" l="l"/>
            <a:pathLst>
              <a:path h="1011820" w="1078490">
                <a:moveTo>
                  <a:pt x="0" y="0"/>
                </a:moveTo>
                <a:lnTo>
                  <a:pt x="1078491" y="0"/>
                </a:lnTo>
                <a:lnTo>
                  <a:pt x="1078491" y="1011821"/>
                </a:lnTo>
                <a:lnTo>
                  <a:pt x="0" y="10118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78577" y="-780691"/>
            <a:ext cx="13081096" cy="11848382"/>
            <a:chOff x="0" y="0"/>
            <a:chExt cx="3445227" cy="3120562"/>
          </a:xfrm>
        </p:grpSpPr>
        <p:sp>
          <p:nvSpPr>
            <p:cNvPr name="Freeform 3" id="3"/>
            <p:cNvSpPr/>
            <p:nvPr/>
          </p:nvSpPr>
          <p:spPr>
            <a:xfrm flipH="false" flipV="false" rot="0">
              <a:off x="0" y="0"/>
              <a:ext cx="3445227" cy="3120562"/>
            </a:xfrm>
            <a:custGeom>
              <a:avLst/>
              <a:gdLst/>
              <a:ahLst/>
              <a:cxnLst/>
              <a:rect r="r" b="b" t="t" l="l"/>
              <a:pathLst>
                <a:path h="3120562" w="3445227">
                  <a:moveTo>
                    <a:pt x="0" y="0"/>
                  </a:moveTo>
                  <a:lnTo>
                    <a:pt x="3445227" y="0"/>
                  </a:lnTo>
                  <a:lnTo>
                    <a:pt x="3445227" y="3120562"/>
                  </a:lnTo>
                  <a:lnTo>
                    <a:pt x="0" y="3120562"/>
                  </a:lnTo>
                  <a:close/>
                </a:path>
              </a:pathLst>
            </a:custGeom>
            <a:solidFill>
              <a:srgbClr val="5FA8C7"/>
            </a:solidFill>
          </p:spPr>
        </p:sp>
        <p:sp>
          <p:nvSpPr>
            <p:cNvPr name="TextBox 4" id="4"/>
            <p:cNvSpPr txBox="true"/>
            <p:nvPr/>
          </p:nvSpPr>
          <p:spPr>
            <a:xfrm>
              <a:off x="0" y="-38100"/>
              <a:ext cx="3445227" cy="315866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09211" y="1823395"/>
            <a:ext cx="8951413" cy="828756"/>
          </a:xfrm>
          <a:prstGeom prst="rect">
            <a:avLst/>
          </a:prstGeom>
        </p:spPr>
        <p:txBody>
          <a:bodyPr anchor="t" rtlCol="false" tIns="0" lIns="0" bIns="0" rIns="0">
            <a:spAutoFit/>
          </a:bodyPr>
          <a:lstStyle/>
          <a:p>
            <a:pPr algn="l">
              <a:lnSpc>
                <a:spcPts val="6356"/>
              </a:lnSpc>
            </a:pPr>
            <a:r>
              <a:rPr lang="en-US" sz="5778">
                <a:solidFill>
                  <a:srgbClr val="000000"/>
                </a:solidFill>
                <a:latin typeface="Rubik One"/>
                <a:ea typeface="Rubik One"/>
                <a:cs typeface="Rubik One"/>
                <a:sym typeface="Rubik One"/>
              </a:rPr>
              <a:t>TUJUAN </a:t>
            </a:r>
            <a:r>
              <a:rPr lang="en-US" sz="5778">
                <a:solidFill>
                  <a:srgbClr val="000000"/>
                </a:solidFill>
                <a:latin typeface="Rubik One"/>
                <a:ea typeface="Rubik One"/>
                <a:cs typeface="Rubik One"/>
                <a:sym typeface="Rubik One"/>
              </a:rPr>
              <a:t>PROYEK</a:t>
            </a:r>
          </a:p>
        </p:txBody>
      </p:sp>
      <p:sp>
        <p:nvSpPr>
          <p:cNvPr name="Freeform 6" id="6"/>
          <p:cNvSpPr/>
          <p:nvPr/>
        </p:nvSpPr>
        <p:spPr>
          <a:xfrm flipH="false" flipV="false" rot="0">
            <a:off x="-4709842" y="4293694"/>
            <a:ext cx="5322984" cy="1699613"/>
          </a:xfrm>
          <a:custGeom>
            <a:avLst/>
            <a:gdLst/>
            <a:ahLst/>
            <a:cxnLst/>
            <a:rect r="r" b="b" t="t" l="l"/>
            <a:pathLst>
              <a:path h="1699613" w="5322984">
                <a:moveTo>
                  <a:pt x="0" y="0"/>
                </a:moveTo>
                <a:lnTo>
                  <a:pt x="5322984" y="0"/>
                </a:lnTo>
                <a:lnTo>
                  <a:pt x="5322984" y="1699612"/>
                </a:lnTo>
                <a:lnTo>
                  <a:pt x="0" y="16996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5626508" y="-849806"/>
            <a:ext cx="5322984" cy="1699613"/>
          </a:xfrm>
          <a:custGeom>
            <a:avLst/>
            <a:gdLst/>
            <a:ahLst/>
            <a:cxnLst/>
            <a:rect r="r" b="b" t="t" l="l"/>
            <a:pathLst>
              <a:path h="1699613" w="5322984">
                <a:moveTo>
                  <a:pt x="0" y="0"/>
                </a:moveTo>
                <a:lnTo>
                  <a:pt x="5322984" y="0"/>
                </a:lnTo>
                <a:lnTo>
                  <a:pt x="5322984" y="1699612"/>
                </a:lnTo>
                <a:lnTo>
                  <a:pt x="0" y="16996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26508" y="9437194"/>
            <a:ext cx="5322984" cy="1699613"/>
          </a:xfrm>
          <a:custGeom>
            <a:avLst/>
            <a:gdLst/>
            <a:ahLst/>
            <a:cxnLst/>
            <a:rect r="r" b="b" t="t" l="l"/>
            <a:pathLst>
              <a:path h="1699613" w="5322984">
                <a:moveTo>
                  <a:pt x="0" y="0"/>
                </a:moveTo>
                <a:lnTo>
                  <a:pt x="5322984" y="0"/>
                </a:lnTo>
                <a:lnTo>
                  <a:pt x="5322984" y="1699612"/>
                </a:lnTo>
                <a:lnTo>
                  <a:pt x="0" y="16996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209211" y="3328427"/>
            <a:ext cx="7934789" cy="2365971"/>
            <a:chOff x="0" y="0"/>
            <a:chExt cx="10579718" cy="3154627"/>
          </a:xfrm>
        </p:grpSpPr>
        <p:grpSp>
          <p:nvGrpSpPr>
            <p:cNvPr name="Group 10" id="10"/>
            <p:cNvGrpSpPr/>
            <p:nvPr/>
          </p:nvGrpSpPr>
          <p:grpSpPr>
            <a:xfrm rot="0">
              <a:off x="648847" y="0"/>
              <a:ext cx="9930872" cy="3045314"/>
              <a:chOff x="0" y="0"/>
              <a:chExt cx="1961654" cy="601543"/>
            </a:xfrm>
          </p:grpSpPr>
          <p:sp>
            <p:nvSpPr>
              <p:cNvPr name="Freeform 11" id="11"/>
              <p:cNvSpPr/>
              <p:nvPr/>
            </p:nvSpPr>
            <p:spPr>
              <a:xfrm flipH="false" flipV="false" rot="0">
                <a:off x="0" y="0"/>
                <a:ext cx="1961654" cy="601543"/>
              </a:xfrm>
              <a:custGeom>
                <a:avLst/>
                <a:gdLst/>
                <a:ahLst/>
                <a:cxnLst/>
                <a:rect r="r" b="b" t="t" l="l"/>
                <a:pathLst>
                  <a:path h="601543" w="1961654">
                    <a:moveTo>
                      <a:pt x="41578" y="0"/>
                    </a:moveTo>
                    <a:lnTo>
                      <a:pt x="1920076" y="0"/>
                    </a:lnTo>
                    <a:cubicBezTo>
                      <a:pt x="1943039" y="0"/>
                      <a:pt x="1961654" y="18615"/>
                      <a:pt x="1961654" y="41578"/>
                    </a:cubicBezTo>
                    <a:lnTo>
                      <a:pt x="1961654" y="559966"/>
                    </a:lnTo>
                    <a:cubicBezTo>
                      <a:pt x="1961654" y="570993"/>
                      <a:pt x="1957273" y="581568"/>
                      <a:pt x="1949476" y="589366"/>
                    </a:cubicBezTo>
                    <a:cubicBezTo>
                      <a:pt x="1941679" y="597163"/>
                      <a:pt x="1931103" y="601543"/>
                      <a:pt x="1920076" y="601543"/>
                    </a:cubicBezTo>
                    <a:lnTo>
                      <a:pt x="41578" y="601543"/>
                    </a:lnTo>
                    <a:cubicBezTo>
                      <a:pt x="18615" y="601543"/>
                      <a:pt x="0" y="582929"/>
                      <a:pt x="0" y="559966"/>
                    </a:cubicBezTo>
                    <a:lnTo>
                      <a:pt x="0" y="41578"/>
                    </a:lnTo>
                    <a:cubicBezTo>
                      <a:pt x="0" y="18615"/>
                      <a:pt x="18615" y="0"/>
                      <a:pt x="41578" y="0"/>
                    </a:cubicBezTo>
                    <a:close/>
                  </a:path>
                </a:pathLst>
              </a:custGeom>
              <a:solidFill>
                <a:srgbClr val="8DC8A3"/>
              </a:solidFill>
            </p:spPr>
          </p:sp>
          <p:sp>
            <p:nvSpPr>
              <p:cNvPr name="TextBox 12" id="12"/>
              <p:cNvSpPr txBox="true"/>
              <p:nvPr/>
            </p:nvSpPr>
            <p:spPr>
              <a:xfrm>
                <a:off x="0" y="-38100"/>
                <a:ext cx="1961654" cy="63964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873810"/>
              <a:ext cx="1297693" cy="129769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550002" y="502688"/>
              <a:ext cx="8380870" cy="2651940"/>
            </a:xfrm>
            <a:prstGeom prst="rect">
              <a:avLst/>
            </a:prstGeom>
          </p:spPr>
          <p:txBody>
            <a:bodyPr anchor="t" rtlCol="false" tIns="0" lIns="0" bIns="0" rIns="0">
              <a:spAutoFit/>
            </a:bodyPr>
            <a:lstStyle/>
            <a:p>
              <a:pPr algn="l">
                <a:lnSpc>
                  <a:spcPts val="4035"/>
                </a:lnSpc>
              </a:pPr>
              <a:r>
                <a:rPr lang="en-US" sz="2882" b="true">
                  <a:solidFill>
                    <a:srgbClr val="000000"/>
                  </a:solidFill>
                  <a:latin typeface="Be Vietnam Ultra-Bold"/>
                  <a:ea typeface="Be Vietnam Ultra-Bold"/>
                  <a:cs typeface="Be Vietnam Ultra-Bold"/>
                  <a:sym typeface="Be Vietnam Ultra-Bold"/>
                </a:rPr>
                <a:t>Mengimplementasikan sebuah sist</a:t>
              </a:r>
              <a:r>
                <a:rPr lang="en-US" sz="2882" b="true">
                  <a:solidFill>
                    <a:srgbClr val="000000"/>
                  </a:solidFill>
                  <a:latin typeface="Be Vietnam Ultra-Bold"/>
                  <a:ea typeface="Be Vietnam Ultra-Bold"/>
                  <a:cs typeface="Be Vietnam Ultra-Bold"/>
                  <a:sym typeface="Be Vietnam Ultra-Bold"/>
                </a:rPr>
                <a:t>em digital kompleks menggunakan VHDL pada FPGA.</a:t>
              </a:r>
            </a:p>
            <a:p>
              <a:pPr algn="just">
                <a:lnSpc>
                  <a:spcPts val="4035"/>
                </a:lnSpc>
              </a:pPr>
            </a:p>
          </p:txBody>
        </p:sp>
        <p:sp>
          <p:nvSpPr>
            <p:cNvPr name="TextBox 17" id="17"/>
            <p:cNvSpPr txBox="true"/>
            <p:nvPr/>
          </p:nvSpPr>
          <p:spPr>
            <a:xfrm rot="0">
              <a:off x="40362" y="1089799"/>
              <a:ext cx="1191570" cy="964142"/>
            </a:xfrm>
            <a:prstGeom prst="rect">
              <a:avLst/>
            </a:prstGeom>
          </p:spPr>
          <p:txBody>
            <a:bodyPr anchor="t" rtlCol="false" tIns="0" lIns="0" bIns="0" rIns="0">
              <a:spAutoFit/>
            </a:bodyPr>
            <a:lstStyle/>
            <a:p>
              <a:pPr algn="ctr">
                <a:lnSpc>
                  <a:spcPts val="5500"/>
                </a:lnSpc>
              </a:pPr>
              <a:r>
                <a:rPr lang="en-US" sz="5000">
                  <a:solidFill>
                    <a:srgbClr val="CEF7EF"/>
                  </a:solidFill>
                  <a:latin typeface="Rubik One"/>
                  <a:ea typeface="Rubik One"/>
                  <a:cs typeface="Rubik One"/>
                  <a:sym typeface="Rubik One"/>
                </a:rPr>
                <a:t>1</a:t>
              </a:r>
            </a:p>
          </p:txBody>
        </p:sp>
      </p:grpSp>
      <p:grpSp>
        <p:nvGrpSpPr>
          <p:cNvPr name="Group 18" id="18"/>
          <p:cNvGrpSpPr/>
          <p:nvPr/>
        </p:nvGrpSpPr>
        <p:grpSpPr>
          <a:xfrm rot="0">
            <a:off x="1209211" y="6374306"/>
            <a:ext cx="7934789" cy="2457241"/>
            <a:chOff x="0" y="0"/>
            <a:chExt cx="10579718" cy="3276322"/>
          </a:xfrm>
        </p:grpSpPr>
        <p:grpSp>
          <p:nvGrpSpPr>
            <p:cNvPr name="Group 19" id="19"/>
            <p:cNvGrpSpPr/>
            <p:nvPr/>
          </p:nvGrpSpPr>
          <p:grpSpPr>
            <a:xfrm rot="0">
              <a:off x="648847" y="0"/>
              <a:ext cx="9930872" cy="3045314"/>
              <a:chOff x="0" y="0"/>
              <a:chExt cx="1961654" cy="601543"/>
            </a:xfrm>
          </p:grpSpPr>
          <p:sp>
            <p:nvSpPr>
              <p:cNvPr name="Freeform 20" id="20"/>
              <p:cNvSpPr/>
              <p:nvPr/>
            </p:nvSpPr>
            <p:spPr>
              <a:xfrm flipH="false" flipV="false" rot="0">
                <a:off x="0" y="0"/>
                <a:ext cx="1961654" cy="601543"/>
              </a:xfrm>
              <a:custGeom>
                <a:avLst/>
                <a:gdLst/>
                <a:ahLst/>
                <a:cxnLst/>
                <a:rect r="r" b="b" t="t" l="l"/>
                <a:pathLst>
                  <a:path h="601543" w="1961654">
                    <a:moveTo>
                      <a:pt x="41578" y="0"/>
                    </a:moveTo>
                    <a:lnTo>
                      <a:pt x="1920076" y="0"/>
                    </a:lnTo>
                    <a:cubicBezTo>
                      <a:pt x="1943039" y="0"/>
                      <a:pt x="1961654" y="18615"/>
                      <a:pt x="1961654" y="41578"/>
                    </a:cubicBezTo>
                    <a:lnTo>
                      <a:pt x="1961654" y="559966"/>
                    </a:lnTo>
                    <a:cubicBezTo>
                      <a:pt x="1961654" y="570993"/>
                      <a:pt x="1957273" y="581568"/>
                      <a:pt x="1949476" y="589366"/>
                    </a:cubicBezTo>
                    <a:cubicBezTo>
                      <a:pt x="1941679" y="597163"/>
                      <a:pt x="1931103" y="601543"/>
                      <a:pt x="1920076" y="601543"/>
                    </a:cubicBezTo>
                    <a:lnTo>
                      <a:pt x="41578" y="601543"/>
                    </a:lnTo>
                    <a:cubicBezTo>
                      <a:pt x="18615" y="601543"/>
                      <a:pt x="0" y="582929"/>
                      <a:pt x="0" y="559966"/>
                    </a:cubicBezTo>
                    <a:lnTo>
                      <a:pt x="0" y="41578"/>
                    </a:lnTo>
                    <a:cubicBezTo>
                      <a:pt x="0" y="18615"/>
                      <a:pt x="18615" y="0"/>
                      <a:pt x="41578" y="0"/>
                    </a:cubicBezTo>
                    <a:close/>
                  </a:path>
                </a:pathLst>
              </a:custGeom>
              <a:solidFill>
                <a:srgbClr val="8DC8A3"/>
              </a:solidFill>
            </p:spPr>
          </p:sp>
          <p:sp>
            <p:nvSpPr>
              <p:cNvPr name="TextBox 21" id="21"/>
              <p:cNvSpPr txBox="true"/>
              <p:nvPr/>
            </p:nvSpPr>
            <p:spPr>
              <a:xfrm>
                <a:off x="0" y="-38100"/>
                <a:ext cx="1961654" cy="63964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0" y="873810"/>
              <a:ext cx="1297693" cy="129769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567983" y="233474"/>
              <a:ext cx="8922835" cy="3042848"/>
            </a:xfrm>
            <a:prstGeom prst="rect">
              <a:avLst/>
            </a:prstGeom>
          </p:spPr>
          <p:txBody>
            <a:bodyPr anchor="t" rtlCol="false" tIns="0" lIns="0" bIns="0" rIns="0">
              <a:spAutoFit/>
            </a:bodyPr>
            <a:lstStyle/>
            <a:p>
              <a:pPr algn="l">
                <a:lnSpc>
                  <a:spcPts val="3698"/>
                </a:lnSpc>
              </a:pPr>
              <a:r>
                <a:rPr lang="en-US" sz="2641" b="true">
                  <a:solidFill>
                    <a:srgbClr val="000000"/>
                  </a:solidFill>
                  <a:latin typeface="Be Vietnam Ultra-Bold"/>
                  <a:ea typeface="Be Vietnam Ultra-Bold"/>
                  <a:cs typeface="Be Vietnam Ultra-Bold"/>
                  <a:sym typeface="Be Vietnam Ultra-Bold"/>
                </a:rPr>
                <a:t>Menerapkan microprogramming sebagai p</a:t>
              </a:r>
              <a:r>
                <a:rPr lang="en-US" sz="2641" b="true">
                  <a:solidFill>
                    <a:srgbClr val="000000"/>
                  </a:solidFill>
                  <a:latin typeface="Be Vietnam Ultra-Bold"/>
                  <a:ea typeface="Be Vietnam Ultra-Bold"/>
                  <a:cs typeface="Be Vietnam Ultra-Bold"/>
                  <a:sym typeface="Be Vietnam Ultra-Bold"/>
                </a:rPr>
                <a:t>engendali keluaran FSM, looping untuk pengecekan bit PIN, serta function &amp; procedure untuk operasi aritmetika.</a:t>
              </a:r>
            </a:p>
            <a:p>
              <a:pPr algn="just">
                <a:lnSpc>
                  <a:spcPts val="3698"/>
                </a:lnSpc>
              </a:pPr>
            </a:p>
          </p:txBody>
        </p:sp>
        <p:sp>
          <p:nvSpPr>
            <p:cNvPr name="TextBox 26" id="26"/>
            <p:cNvSpPr txBox="true"/>
            <p:nvPr/>
          </p:nvSpPr>
          <p:spPr>
            <a:xfrm rot="0">
              <a:off x="40362" y="1089799"/>
              <a:ext cx="1191570" cy="964142"/>
            </a:xfrm>
            <a:prstGeom prst="rect">
              <a:avLst/>
            </a:prstGeom>
          </p:spPr>
          <p:txBody>
            <a:bodyPr anchor="t" rtlCol="false" tIns="0" lIns="0" bIns="0" rIns="0">
              <a:spAutoFit/>
            </a:bodyPr>
            <a:lstStyle/>
            <a:p>
              <a:pPr algn="ctr">
                <a:lnSpc>
                  <a:spcPts val="5500"/>
                </a:lnSpc>
              </a:pPr>
              <a:r>
                <a:rPr lang="en-US" sz="5000">
                  <a:solidFill>
                    <a:srgbClr val="CEF7EF"/>
                  </a:solidFill>
                  <a:latin typeface="Rubik One"/>
                  <a:ea typeface="Rubik One"/>
                  <a:cs typeface="Rubik One"/>
                  <a:sym typeface="Rubik One"/>
                </a:rPr>
                <a:t>3</a:t>
              </a:r>
            </a:p>
          </p:txBody>
        </p:sp>
      </p:grpSp>
      <p:grpSp>
        <p:nvGrpSpPr>
          <p:cNvPr name="Group 27" id="27"/>
          <p:cNvGrpSpPr/>
          <p:nvPr/>
        </p:nvGrpSpPr>
        <p:grpSpPr>
          <a:xfrm rot="0">
            <a:off x="9583534" y="6374306"/>
            <a:ext cx="7934789" cy="2283985"/>
            <a:chOff x="0" y="0"/>
            <a:chExt cx="10579718" cy="3045314"/>
          </a:xfrm>
        </p:grpSpPr>
        <p:grpSp>
          <p:nvGrpSpPr>
            <p:cNvPr name="Group 28" id="28"/>
            <p:cNvGrpSpPr/>
            <p:nvPr/>
          </p:nvGrpSpPr>
          <p:grpSpPr>
            <a:xfrm rot="0">
              <a:off x="648847" y="0"/>
              <a:ext cx="9930872" cy="3045314"/>
              <a:chOff x="0" y="0"/>
              <a:chExt cx="1961654" cy="601543"/>
            </a:xfrm>
          </p:grpSpPr>
          <p:sp>
            <p:nvSpPr>
              <p:cNvPr name="Freeform 29" id="29"/>
              <p:cNvSpPr/>
              <p:nvPr/>
            </p:nvSpPr>
            <p:spPr>
              <a:xfrm flipH="false" flipV="false" rot="0">
                <a:off x="0" y="0"/>
                <a:ext cx="1961654" cy="601543"/>
              </a:xfrm>
              <a:custGeom>
                <a:avLst/>
                <a:gdLst/>
                <a:ahLst/>
                <a:cxnLst/>
                <a:rect r="r" b="b" t="t" l="l"/>
                <a:pathLst>
                  <a:path h="601543" w="1961654">
                    <a:moveTo>
                      <a:pt x="41578" y="0"/>
                    </a:moveTo>
                    <a:lnTo>
                      <a:pt x="1920076" y="0"/>
                    </a:lnTo>
                    <a:cubicBezTo>
                      <a:pt x="1943039" y="0"/>
                      <a:pt x="1961654" y="18615"/>
                      <a:pt x="1961654" y="41578"/>
                    </a:cubicBezTo>
                    <a:lnTo>
                      <a:pt x="1961654" y="559966"/>
                    </a:lnTo>
                    <a:cubicBezTo>
                      <a:pt x="1961654" y="570993"/>
                      <a:pt x="1957273" y="581568"/>
                      <a:pt x="1949476" y="589366"/>
                    </a:cubicBezTo>
                    <a:cubicBezTo>
                      <a:pt x="1941679" y="597163"/>
                      <a:pt x="1931103" y="601543"/>
                      <a:pt x="1920076" y="601543"/>
                    </a:cubicBezTo>
                    <a:lnTo>
                      <a:pt x="41578" y="601543"/>
                    </a:lnTo>
                    <a:cubicBezTo>
                      <a:pt x="18615" y="601543"/>
                      <a:pt x="0" y="582929"/>
                      <a:pt x="0" y="559966"/>
                    </a:cubicBezTo>
                    <a:lnTo>
                      <a:pt x="0" y="41578"/>
                    </a:lnTo>
                    <a:cubicBezTo>
                      <a:pt x="0" y="18615"/>
                      <a:pt x="18615" y="0"/>
                      <a:pt x="41578" y="0"/>
                    </a:cubicBezTo>
                    <a:close/>
                  </a:path>
                </a:pathLst>
              </a:custGeom>
              <a:solidFill>
                <a:srgbClr val="8DC8A3"/>
              </a:solidFill>
            </p:spPr>
          </p:sp>
          <p:sp>
            <p:nvSpPr>
              <p:cNvPr name="TextBox 30" id="30"/>
              <p:cNvSpPr txBox="true"/>
              <p:nvPr/>
            </p:nvSpPr>
            <p:spPr>
              <a:xfrm>
                <a:off x="0" y="-38100"/>
                <a:ext cx="1961654" cy="639643"/>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0" y="873810"/>
              <a:ext cx="1297693" cy="1297693"/>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1424693" y="512213"/>
              <a:ext cx="8890991" cy="2533101"/>
            </a:xfrm>
            <a:prstGeom prst="rect">
              <a:avLst/>
            </a:prstGeom>
          </p:spPr>
          <p:txBody>
            <a:bodyPr anchor="t" rtlCol="false" tIns="0" lIns="0" bIns="0" rIns="0">
              <a:spAutoFit/>
            </a:bodyPr>
            <a:lstStyle/>
            <a:p>
              <a:pPr algn="l">
                <a:lnSpc>
                  <a:spcPts val="3865"/>
                </a:lnSpc>
              </a:pPr>
              <a:r>
                <a:rPr lang="en-US" sz="2760" b="true">
                  <a:solidFill>
                    <a:srgbClr val="000000"/>
                  </a:solidFill>
                  <a:latin typeface="Be Vietnam Ultra-Bold"/>
                  <a:ea typeface="Be Vietnam Ultra-Bold"/>
                  <a:cs typeface="Be Vietnam Ultra-Bold"/>
                  <a:sym typeface="Be Vietnam Ultra-Bold"/>
                </a:rPr>
                <a:t>Menggunakan self-checking testb</a:t>
              </a:r>
              <a:r>
                <a:rPr lang="en-US" sz="2760" b="true">
                  <a:solidFill>
                    <a:srgbClr val="000000"/>
                  </a:solidFill>
                  <a:latin typeface="Be Vietnam Ultra-Bold"/>
                  <a:ea typeface="Be Vietnam Ultra-Bold"/>
                  <a:cs typeface="Be Vietnam Ultra-Bold"/>
                  <a:sym typeface="Be Vietnam Ultra-Bold"/>
                </a:rPr>
                <a:t>ench di ModelSim untuk memverifikasi sistem secara otomatis.</a:t>
              </a:r>
            </a:p>
            <a:p>
              <a:pPr algn="just">
                <a:lnSpc>
                  <a:spcPts val="3865"/>
                </a:lnSpc>
              </a:pPr>
            </a:p>
          </p:txBody>
        </p:sp>
        <p:sp>
          <p:nvSpPr>
            <p:cNvPr name="TextBox 35" id="35"/>
            <p:cNvSpPr txBox="true"/>
            <p:nvPr/>
          </p:nvSpPr>
          <p:spPr>
            <a:xfrm rot="0">
              <a:off x="40362" y="1089799"/>
              <a:ext cx="1191570" cy="964142"/>
            </a:xfrm>
            <a:prstGeom prst="rect">
              <a:avLst/>
            </a:prstGeom>
          </p:spPr>
          <p:txBody>
            <a:bodyPr anchor="t" rtlCol="false" tIns="0" lIns="0" bIns="0" rIns="0">
              <a:spAutoFit/>
            </a:bodyPr>
            <a:lstStyle/>
            <a:p>
              <a:pPr algn="ctr">
                <a:lnSpc>
                  <a:spcPts val="5500"/>
                </a:lnSpc>
              </a:pPr>
              <a:r>
                <a:rPr lang="en-US" sz="5000">
                  <a:solidFill>
                    <a:srgbClr val="CEF7EF"/>
                  </a:solidFill>
                  <a:latin typeface="Rubik One"/>
                  <a:ea typeface="Rubik One"/>
                  <a:cs typeface="Rubik One"/>
                  <a:sym typeface="Rubik One"/>
                </a:rPr>
                <a:t>4</a:t>
              </a:r>
            </a:p>
          </p:txBody>
        </p:sp>
      </p:grpSp>
      <p:grpSp>
        <p:nvGrpSpPr>
          <p:cNvPr name="Group 36" id="36"/>
          <p:cNvGrpSpPr/>
          <p:nvPr/>
        </p:nvGrpSpPr>
        <p:grpSpPr>
          <a:xfrm rot="0">
            <a:off x="9583534" y="3328427"/>
            <a:ext cx="7934789" cy="2365971"/>
            <a:chOff x="0" y="0"/>
            <a:chExt cx="10579718" cy="3154627"/>
          </a:xfrm>
        </p:grpSpPr>
        <p:grpSp>
          <p:nvGrpSpPr>
            <p:cNvPr name="Group 37" id="37"/>
            <p:cNvGrpSpPr/>
            <p:nvPr/>
          </p:nvGrpSpPr>
          <p:grpSpPr>
            <a:xfrm rot="0">
              <a:off x="648847" y="0"/>
              <a:ext cx="9930872" cy="3045314"/>
              <a:chOff x="0" y="0"/>
              <a:chExt cx="1961654" cy="601543"/>
            </a:xfrm>
          </p:grpSpPr>
          <p:sp>
            <p:nvSpPr>
              <p:cNvPr name="Freeform 38" id="38"/>
              <p:cNvSpPr/>
              <p:nvPr/>
            </p:nvSpPr>
            <p:spPr>
              <a:xfrm flipH="false" flipV="false" rot="0">
                <a:off x="0" y="0"/>
                <a:ext cx="1961654" cy="601543"/>
              </a:xfrm>
              <a:custGeom>
                <a:avLst/>
                <a:gdLst/>
                <a:ahLst/>
                <a:cxnLst/>
                <a:rect r="r" b="b" t="t" l="l"/>
                <a:pathLst>
                  <a:path h="601543" w="1961654">
                    <a:moveTo>
                      <a:pt x="41578" y="0"/>
                    </a:moveTo>
                    <a:lnTo>
                      <a:pt x="1920076" y="0"/>
                    </a:lnTo>
                    <a:cubicBezTo>
                      <a:pt x="1943039" y="0"/>
                      <a:pt x="1961654" y="18615"/>
                      <a:pt x="1961654" y="41578"/>
                    </a:cubicBezTo>
                    <a:lnTo>
                      <a:pt x="1961654" y="559966"/>
                    </a:lnTo>
                    <a:cubicBezTo>
                      <a:pt x="1961654" y="570993"/>
                      <a:pt x="1957273" y="581568"/>
                      <a:pt x="1949476" y="589366"/>
                    </a:cubicBezTo>
                    <a:cubicBezTo>
                      <a:pt x="1941679" y="597163"/>
                      <a:pt x="1931103" y="601543"/>
                      <a:pt x="1920076" y="601543"/>
                    </a:cubicBezTo>
                    <a:lnTo>
                      <a:pt x="41578" y="601543"/>
                    </a:lnTo>
                    <a:cubicBezTo>
                      <a:pt x="18615" y="601543"/>
                      <a:pt x="0" y="582929"/>
                      <a:pt x="0" y="559966"/>
                    </a:cubicBezTo>
                    <a:lnTo>
                      <a:pt x="0" y="41578"/>
                    </a:lnTo>
                    <a:cubicBezTo>
                      <a:pt x="0" y="18615"/>
                      <a:pt x="18615" y="0"/>
                      <a:pt x="41578" y="0"/>
                    </a:cubicBezTo>
                    <a:close/>
                  </a:path>
                </a:pathLst>
              </a:custGeom>
              <a:solidFill>
                <a:srgbClr val="8DC8A3"/>
              </a:solidFill>
            </p:spPr>
          </p:sp>
          <p:sp>
            <p:nvSpPr>
              <p:cNvPr name="TextBox 39" id="39"/>
              <p:cNvSpPr txBox="true"/>
              <p:nvPr/>
            </p:nvSpPr>
            <p:spPr>
              <a:xfrm>
                <a:off x="0" y="-38100"/>
                <a:ext cx="1961654" cy="63964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0" y="873810"/>
              <a:ext cx="1297693" cy="1297693"/>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1550002" y="502688"/>
              <a:ext cx="8380870" cy="2651940"/>
            </a:xfrm>
            <a:prstGeom prst="rect">
              <a:avLst/>
            </a:prstGeom>
          </p:spPr>
          <p:txBody>
            <a:bodyPr anchor="t" rtlCol="false" tIns="0" lIns="0" bIns="0" rIns="0">
              <a:spAutoFit/>
            </a:bodyPr>
            <a:lstStyle/>
            <a:p>
              <a:pPr algn="l">
                <a:lnSpc>
                  <a:spcPts val="4035"/>
                </a:lnSpc>
              </a:pPr>
              <a:r>
                <a:rPr lang="en-US" sz="2882" b="true">
                  <a:solidFill>
                    <a:srgbClr val="000000"/>
                  </a:solidFill>
                  <a:latin typeface="Be Vietnam Ultra-Bold"/>
                  <a:ea typeface="Be Vietnam Ultra-Bold"/>
                  <a:cs typeface="Be Vietnam Ultra-Bold"/>
                  <a:sym typeface="Be Vietnam Ultra-Bold"/>
                </a:rPr>
                <a:t>Menggabungkan minimal </a:t>
              </a:r>
              <a:r>
                <a:rPr lang="en-US" sz="2882" b="true">
                  <a:solidFill>
                    <a:srgbClr val="000000"/>
                  </a:solidFill>
                  <a:latin typeface="Be Vietnam Ultra-Bold"/>
                  <a:ea typeface="Be Vietnam Ultra-Bold"/>
                  <a:cs typeface="Be Vietnam Ultra-Bold"/>
                  <a:sym typeface="Be Vietnam Ultra-Bold"/>
                </a:rPr>
                <a:t>enam modul praktikum ke dalam satu proyek utuh.</a:t>
              </a:r>
            </a:p>
            <a:p>
              <a:pPr algn="just">
                <a:lnSpc>
                  <a:spcPts val="4035"/>
                </a:lnSpc>
              </a:pPr>
            </a:p>
          </p:txBody>
        </p:sp>
        <p:sp>
          <p:nvSpPr>
            <p:cNvPr name="TextBox 44" id="44"/>
            <p:cNvSpPr txBox="true"/>
            <p:nvPr/>
          </p:nvSpPr>
          <p:spPr>
            <a:xfrm rot="0">
              <a:off x="40362" y="1089799"/>
              <a:ext cx="1191570" cy="964142"/>
            </a:xfrm>
            <a:prstGeom prst="rect">
              <a:avLst/>
            </a:prstGeom>
          </p:spPr>
          <p:txBody>
            <a:bodyPr anchor="t" rtlCol="false" tIns="0" lIns="0" bIns="0" rIns="0">
              <a:spAutoFit/>
            </a:bodyPr>
            <a:lstStyle/>
            <a:p>
              <a:pPr algn="ctr">
                <a:lnSpc>
                  <a:spcPts val="5500"/>
                </a:lnSpc>
              </a:pPr>
              <a:r>
                <a:rPr lang="en-US" sz="5000">
                  <a:solidFill>
                    <a:srgbClr val="CEF7EF"/>
                  </a:solidFill>
                  <a:latin typeface="Rubik One"/>
                  <a:ea typeface="Rubik One"/>
                  <a:cs typeface="Rubik One"/>
                  <a:sym typeface="Rubik One"/>
                </a:rPr>
                <a:t>2</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632792" y="-780691"/>
            <a:ext cx="7074903" cy="11848382"/>
            <a:chOff x="0" y="0"/>
            <a:chExt cx="1863349" cy="3120562"/>
          </a:xfrm>
        </p:grpSpPr>
        <p:sp>
          <p:nvSpPr>
            <p:cNvPr name="Freeform 3" id="3"/>
            <p:cNvSpPr/>
            <p:nvPr/>
          </p:nvSpPr>
          <p:spPr>
            <a:xfrm flipH="false" flipV="false" rot="0">
              <a:off x="0" y="0"/>
              <a:ext cx="1863349" cy="3120562"/>
            </a:xfrm>
            <a:custGeom>
              <a:avLst/>
              <a:gdLst/>
              <a:ahLst/>
              <a:cxnLst/>
              <a:rect r="r" b="b" t="t" l="l"/>
              <a:pathLst>
                <a:path h="3120562" w="1863349">
                  <a:moveTo>
                    <a:pt x="0" y="0"/>
                  </a:moveTo>
                  <a:lnTo>
                    <a:pt x="1863349" y="0"/>
                  </a:lnTo>
                  <a:lnTo>
                    <a:pt x="1863349" y="3120562"/>
                  </a:lnTo>
                  <a:lnTo>
                    <a:pt x="0" y="3120562"/>
                  </a:lnTo>
                  <a:close/>
                </a:path>
              </a:pathLst>
            </a:custGeom>
            <a:solidFill>
              <a:srgbClr val="5FA8C7"/>
            </a:solidFill>
          </p:spPr>
        </p:sp>
        <p:sp>
          <p:nvSpPr>
            <p:cNvPr name="TextBox 4" id="4"/>
            <p:cNvSpPr txBox="true"/>
            <p:nvPr/>
          </p:nvSpPr>
          <p:spPr>
            <a:xfrm>
              <a:off x="0" y="-38100"/>
              <a:ext cx="1863349" cy="315866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45852" y="4226545"/>
            <a:ext cx="6358845" cy="4599274"/>
          </a:xfrm>
          <a:custGeom>
            <a:avLst/>
            <a:gdLst/>
            <a:ahLst/>
            <a:cxnLst/>
            <a:rect r="r" b="b" t="t" l="l"/>
            <a:pathLst>
              <a:path h="4599274" w="6358845">
                <a:moveTo>
                  <a:pt x="0" y="0"/>
                </a:moveTo>
                <a:lnTo>
                  <a:pt x="6358844" y="0"/>
                </a:lnTo>
                <a:lnTo>
                  <a:pt x="6358844" y="4599274"/>
                </a:lnTo>
                <a:lnTo>
                  <a:pt x="0" y="4599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6482508" y="-756005"/>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94284" y="6894555"/>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7823632" y="1000758"/>
            <a:ext cx="9435668" cy="2693257"/>
          </a:xfrm>
          <a:prstGeom prst="rect">
            <a:avLst/>
          </a:prstGeom>
        </p:spPr>
        <p:txBody>
          <a:bodyPr anchor="t" rtlCol="false" tIns="0" lIns="0" bIns="0" rIns="0">
            <a:spAutoFit/>
          </a:bodyPr>
          <a:lstStyle/>
          <a:p>
            <a:pPr algn="r">
              <a:lnSpc>
                <a:spcPts val="7024"/>
              </a:lnSpc>
            </a:pPr>
            <a:r>
              <a:rPr lang="en-US" sz="6385">
                <a:solidFill>
                  <a:srgbClr val="000000"/>
                </a:solidFill>
                <a:latin typeface="Rubik One"/>
                <a:ea typeface="Rubik One"/>
                <a:cs typeface="Rubik One"/>
                <a:sym typeface="Rubik One"/>
              </a:rPr>
              <a:t>METODE DAN SKENARIO </a:t>
            </a:r>
            <a:r>
              <a:rPr lang="en-US" sz="6385">
                <a:solidFill>
                  <a:srgbClr val="000000"/>
                </a:solidFill>
                <a:latin typeface="Rubik One"/>
                <a:ea typeface="Rubik One"/>
                <a:cs typeface="Rubik One"/>
                <a:sym typeface="Rubik One"/>
              </a:rPr>
              <a:t>PENGUJIAN SISTEM</a:t>
            </a:r>
          </a:p>
        </p:txBody>
      </p:sp>
      <p:sp>
        <p:nvSpPr>
          <p:cNvPr name="TextBox 9" id="9"/>
          <p:cNvSpPr txBox="true"/>
          <p:nvPr/>
        </p:nvSpPr>
        <p:spPr>
          <a:xfrm rot="0">
            <a:off x="6987687" y="4071914"/>
            <a:ext cx="10433982" cy="5654808"/>
          </a:xfrm>
          <a:prstGeom prst="rect">
            <a:avLst/>
          </a:prstGeom>
        </p:spPr>
        <p:txBody>
          <a:bodyPr anchor="t" rtlCol="false" tIns="0" lIns="0" bIns="0" rIns="0">
            <a:spAutoFit/>
          </a:bodyPr>
          <a:lstStyle/>
          <a:p>
            <a:pPr algn="just">
              <a:lnSpc>
                <a:spcPts val="3240"/>
              </a:lnSpc>
            </a:pPr>
            <a:r>
              <a:rPr lang="en-US" sz="2842" b="true">
                <a:solidFill>
                  <a:srgbClr val="000000"/>
                </a:solidFill>
                <a:latin typeface="Be Vietnam Ultra-Bold"/>
                <a:ea typeface="Be Vietnam Ultra-Bold"/>
                <a:cs typeface="Be Vietnam Ultra-Bold"/>
                <a:sym typeface="Be Vietnam Ultra-Bold"/>
              </a:rPr>
              <a:t>Metode pengujian sistem dilakukan melalui simulasi di ModelSim dengan menggunakan self-checking testbench, </a:t>
            </a:r>
            <a:r>
              <a:rPr lang="en-US" sz="2842" b="true">
                <a:solidFill>
                  <a:srgbClr val="000000"/>
                </a:solidFill>
                <a:latin typeface="Be Vietnam Ultra-Bold"/>
                <a:ea typeface="Be Vietnam Ultra-Bold"/>
                <a:cs typeface="Be Vietnam Ultra-Bold"/>
                <a:sym typeface="Be Vietnam Ultra-Bold"/>
              </a:rPr>
              <a:t>kemudian membandingkan output dengan nilai yang diharapkan serta menampilkan pesan status keberhasilan. Skenario uji yang digunakan meliputi pengujian reset untuk memastikan sistem selalu kembali ke state IDLE ketika reset diaktifkan, pengujian PIN salah untuk melihat perpindahan sistem ke state ERROR dan aktifnya indikator kesalahan, serta pengujian PIN benar untuk dua user berbeda di mana saldo awal masing-masing user diambil dari bank_ram, dikurangi biaya administrasi, dan hasil akhirnya diverifikasi melalui output saldo dan indikator sukses.</a:t>
            </a:r>
          </a:p>
          <a:p>
            <a:pPr algn="just">
              <a:lnSpc>
                <a:spcPts val="3411"/>
              </a:lnSpc>
            </a:pPr>
          </a:p>
        </p:txBody>
      </p:sp>
      <p:sp>
        <p:nvSpPr>
          <p:cNvPr name="Freeform 10" id="10"/>
          <p:cNvSpPr/>
          <p:nvPr/>
        </p:nvSpPr>
        <p:spPr>
          <a:xfrm flipH="false" flipV="true" rot="0">
            <a:off x="-2448897" y="-1408288"/>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6165451" y="1913307"/>
            <a:ext cx="1078490" cy="1011820"/>
          </a:xfrm>
          <a:custGeom>
            <a:avLst/>
            <a:gdLst/>
            <a:ahLst/>
            <a:cxnLst/>
            <a:rect r="r" b="b" t="t" l="l"/>
            <a:pathLst>
              <a:path h="1011820" w="1078490">
                <a:moveTo>
                  <a:pt x="0" y="0"/>
                </a:moveTo>
                <a:lnTo>
                  <a:pt x="1078490" y="0"/>
                </a:lnTo>
                <a:lnTo>
                  <a:pt x="1078490" y="1011820"/>
                </a:lnTo>
                <a:lnTo>
                  <a:pt x="0" y="10118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180352"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15336"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545388" y="899379"/>
            <a:ext cx="13197223" cy="1076325"/>
          </a:xfrm>
          <a:prstGeom prst="rect">
            <a:avLst/>
          </a:prstGeom>
        </p:spPr>
        <p:txBody>
          <a:bodyPr anchor="t" rtlCol="false" tIns="0" lIns="0" bIns="0" rIns="0">
            <a:spAutoFit/>
          </a:bodyPr>
          <a:lstStyle/>
          <a:p>
            <a:pPr algn="ctr">
              <a:lnSpc>
                <a:spcPts val="8250"/>
              </a:lnSpc>
            </a:pPr>
            <a:r>
              <a:rPr lang="en-US" sz="7500">
                <a:solidFill>
                  <a:srgbClr val="000000"/>
                </a:solidFill>
                <a:latin typeface="Rubik One"/>
                <a:ea typeface="Rubik One"/>
                <a:cs typeface="Rubik One"/>
                <a:sym typeface="Rubik One"/>
              </a:rPr>
              <a:t>IMPLEMENTASI SISTEM</a:t>
            </a:r>
          </a:p>
        </p:txBody>
      </p:sp>
      <p:sp>
        <p:nvSpPr>
          <p:cNvPr name="Freeform 5" id="5"/>
          <p:cNvSpPr/>
          <p:nvPr/>
        </p:nvSpPr>
        <p:spPr>
          <a:xfrm flipH="false" flipV="true" rot="0">
            <a:off x="15839103" y="8971152"/>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2448897" y="8971152"/>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881450" y="2260657"/>
            <a:ext cx="14324181" cy="1672356"/>
            <a:chOff x="0" y="0"/>
            <a:chExt cx="4458130" cy="520489"/>
          </a:xfrm>
        </p:grpSpPr>
        <p:sp>
          <p:nvSpPr>
            <p:cNvPr name="Freeform 8" id="8"/>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9" id="9"/>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10" id="10"/>
          <p:cNvGrpSpPr/>
          <p:nvPr/>
        </p:nvGrpSpPr>
        <p:grpSpPr>
          <a:xfrm rot="0">
            <a:off x="1469643" y="2685027"/>
            <a:ext cx="823615" cy="8236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12" id="12"/>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13" id="13"/>
          <p:cNvSpPr txBox="true"/>
          <p:nvPr/>
        </p:nvSpPr>
        <p:spPr>
          <a:xfrm rot="0">
            <a:off x="2396683" y="2358769"/>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Sistem ATM</a:t>
            </a:r>
            <a:r>
              <a:rPr lang="en-US" sz="3052" b="true">
                <a:solidFill>
                  <a:srgbClr val="000000"/>
                </a:solidFill>
                <a:latin typeface="Be Vietnam Ultra-Bold"/>
                <a:ea typeface="Be Vietnam Ultra-Bold"/>
                <a:cs typeface="Be Vietnam Ultra-Bold"/>
                <a:sym typeface="Be Vietnam Ultra-Bold"/>
              </a:rPr>
              <a:t> dirancang secara modular dan struktural dengan entitas top-level atm_top.</a:t>
            </a:r>
          </a:p>
          <a:p>
            <a:pPr algn="just">
              <a:lnSpc>
                <a:spcPts val="4274"/>
              </a:lnSpc>
            </a:pPr>
          </a:p>
        </p:txBody>
      </p:sp>
      <p:sp>
        <p:nvSpPr>
          <p:cNvPr name="TextBox 14" id="14"/>
          <p:cNvSpPr txBox="true"/>
          <p:nvPr/>
        </p:nvSpPr>
        <p:spPr>
          <a:xfrm rot="0">
            <a:off x="1495259" y="2829983"/>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1</a:t>
            </a:r>
          </a:p>
        </p:txBody>
      </p:sp>
      <p:grpSp>
        <p:nvGrpSpPr>
          <p:cNvPr name="Group 15" id="15"/>
          <p:cNvGrpSpPr/>
          <p:nvPr/>
        </p:nvGrpSpPr>
        <p:grpSpPr>
          <a:xfrm rot="0">
            <a:off x="1881450" y="4218763"/>
            <a:ext cx="14324181" cy="1672356"/>
            <a:chOff x="0" y="0"/>
            <a:chExt cx="4458130" cy="520489"/>
          </a:xfrm>
        </p:grpSpPr>
        <p:sp>
          <p:nvSpPr>
            <p:cNvPr name="Freeform 16" id="16"/>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17" id="17"/>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18" id="18"/>
          <p:cNvGrpSpPr/>
          <p:nvPr/>
        </p:nvGrpSpPr>
        <p:grpSpPr>
          <a:xfrm rot="0">
            <a:off x="1469643" y="4643133"/>
            <a:ext cx="823615" cy="82361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0" id="20"/>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1" id="21"/>
          <p:cNvSpPr txBox="true"/>
          <p:nvPr/>
        </p:nvSpPr>
        <p:spPr>
          <a:xfrm rot="0">
            <a:off x="2396683" y="4316875"/>
            <a:ext cx="13293715" cy="2108964"/>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atm_top me</a:t>
            </a:r>
            <a:r>
              <a:rPr lang="en-US" sz="3052" b="true">
                <a:solidFill>
                  <a:srgbClr val="000000"/>
                </a:solidFill>
                <a:latin typeface="Be Vietnam Ultra-Bold"/>
                <a:ea typeface="Be Vietnam Ultra-Bold"/>
                <a:cs typeface="Be Vietnam Ultra-Bold"/>
                <a:sym typeface="Be Vietnam Ultra-Bold"/>
              </a:rPr>
              <a:t>nghubungkan modul-modul utama, yaitu auth_accelerator, bank_ram, rom_microcode, fsm_controller, dan clk_divider.</a:t>
            </a:r>
          </a:p>
          <a:p>
            <a:pPr algn="just">
              <a:lnSpc>
                <a:spcPts val="4274"/>
              </a:lnSpc>
            </a:pPr>
          </a:p>
        </p:txBody>
      </p:sp>
      <p:sp>
        <p:nvSpPr>
          <p:cNvPr name="TextBox 22" id="22"/>
          <p:cNvSpPr txBox="true"/>
          <p:nvPr/>
        </p:nvSpPr>
        <p:spPr>
          <a:xfrm rot="0">
            <a:off x="1495259" y="4788089"/>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2</a:t>
            </a:r>
          </a:p>
        </p:txBody>
      </p:sp>
      <p:grpSp>
        <p:nvGrpSpPr>
          <p:cNvPr name="Group 23" id="23"/>
          <p:cNvGrpSpPr/>
          <p:nvPr/>
        </p:nvGrpSpPr>
        <p:grpSpPr>
          <a:xfrm rot="0">
            <a:off x="1881450" y="6176868"/>
            <a:ext cx="14324181" cy="1672356"/>
            <a:chOff x="0" y="0"/>
            <a:chExt cx="4458130" cy="520489"/>
          </a:xfrm>
        </p:grpSpPr>
        <p:sp>
          <p:nvSpPr>
            <p:cNvPr name="Freeform 24" id="24"/>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25" id="25"/>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26" id="26"/>
          <p:cNvGrpSpPr/>
          <p:nvPr/>
        </p:nvGrpSpPr>
        <p:grpSpPr>
          <a:xfrm rot="0">
            <a:off x="1469643" y="6601239"/>
            <a:ext cx="823615" cy="82361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8" id="28"/>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9" id="29"/>
          <p:cNvSpPr txBox="true"/>
          <p:nvPr/>
        </p:nvSpPr>
        <p:spPr>
          <a:xfrm rot="0">
            <a:off x="2396683" y="6274981"/>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Pen</a:t>
            </a:r>
            <a:r>
              <a:rPr lang="en-US" sz="3052" b="true">
                <a:solidFill>
                  <a:srgbClr val="000000"/>
                </a:solidFill>
                <a:latin typeface="Be Vietnam Ultra-Bold"/>
                <a:ea typeface="Be Vietnam Ultra-Bold"/>
                <a:cs typeface="Be Vietnam Ultra-Bold"/>
                <a:sym typeface="Be Vietnam Ultra-Bold"/>
              </a:rPr>
              <a:t>dekatan modular memudahkan proses debugging, pengujian, dan pengembangan lanjutan dari setiap blok.</a:t>
            </a:r>
          </a:p>
          <a:p>
            <a:pPr algn="just">
              <a:lnSpc>
                <a:spcPts val="4274"/>
              </a:lnSpc>
            </a:pPr>
          </a:p>
        </p:txBody>
      </p:sp>
      <p:sp>
        <p:nvSpPr>
          <p:cNvPr name="TextBox 30" id="30"/>
          <p:cNvSpPr txBox="true"/>
          <p:nvPr/>
        </p:nvSpPr>
        <p:spPr>
          <a:xfrm rot="0">
            <a:off x="1495259" y="6746195"/>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3</a:t>
            </a:r>
          </a:p>
        </p:txBody>
      </p:sp>
      <p:grpSp>
        <p:nvGrpSpPr>
          <p:cNvPr name="Group 31" id="31"/>
          <p:cNvGrpSpPr/>
          <p:nvPr/>
        </p:nvGrpSpPr>
        <p:grpSpPr>
          <a:xfrm rot="0">
            <a:off x="1881450" y="8134974"/>
            <a:ext cx="14324181" cy="1672356"/>
            <a:chOff x="0" y="0"/>
            <a:chExt cx="4458130" cy="520489"/>
          </a:xfrm>
        </p:grpSpPr>
        <p:sp>
          <p:nvSpPr>
            <p:cNvPr name="Freeform 32" id="32"/>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33" id="33"/>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34" id="34"/>
          <p:cNvGrpSpPr/>
          <p:nvPr/>
        </p:nvGrpSpPr>
        <p:grpSpPr>
          <a:xfrm rot="0">
            <a:off x="1469643" y="8559345"/>
            <a:ext cx="823615" cy="82361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36" id="36"/>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37" id="37"/>
          <p:cNvSpPr txBox="true"/>
          <p:nvPr/>
        </p:nvSpPr>
        <p:spPr>
          <a:xfrm rot="0">
            <a:off x="2396683" y="8233086"/>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Modul</a:t>
            </a:r>
            <a:r>
              <a:rPr lang="en-US" sz="3052" b="true">
                <a:solidFill>
                  <a:srgbClr val="000000"/>
                </a:solidFill>
                <a:latin typeface="Be Vietnam Ultra-Bold"/>
                <a:ea typeface="Be Vietnam Ultra-Bold"/>
                <a:cs typeface="Be Vietnam Ultra-Bold"/>
                <a:sym typeface="Be Vietnam Ultra-Bold"/>
              </a:rPr>
              <a:t> auth_accelerator melakukan autentikasi PIN dengan  FOR LOOP untuk membandingkan setiap bit PIN input dengan PIN tersimpan.</a:t>
            </a:r>
          </a:p>
          <a:p>
            <a:pPr algn="just">
              <a:lnSpc>
                <a:spcPts val="4274"/>
              </a:lnSpc>
            </a:pPr>
          </a:p>
        </p:txBody>
      </p:sp>
      <p:sp>
        <p:nvSpPr>
          <p:cNvPr name="TextBox 38" id="38"/>
          <p:cNvSpPr txBox="true"/>
          <p:nvPr/>
        </p:nvSpPr>
        <p:spPr>
          <a:xfrm rot="0">
            <a:off x="1495259" y="8704301"/>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180352"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15336"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545388" y="899379"/>
            <a:ext cx="13197223" cy="1076325"/>
          </a:xfrm>
          <a:prstGeom prst="rect">
            <a:avLst/>
          </a:prstGeom>
        </p:spPr>
        <p:txBody>
          <a:bodyPr anchor="t" rtlCol="false" tIns="0" lIns="0" bIns="0" rIns="0">
            <a:spAutoFit/>
          </a:bodyPr>
          <a:lstStyle/>
          <a:p>
            <a:pPr algn="ctr">
              <a:lnSpc>
                <a:spcPts val="8250"/>
              </a:lnSpc>
            </a:pPr>
            <a:r>
              <a:rPr lang="en-US" sz="7500">
                <a:solidFill>
                  <a:srgbClr val="000000"/>
                </a:solidFill>
                <a:latin typeface="Rubik One"/>
                <a:ea typeface="Rubik One"/>
                <a:cs typeface="Rubik One"/>
                <a:sym typeface="Rubik One"/>
              </a:rPr>
              <a:t>IMPLEMENTASI SISTEM</a:t>
            </a:r>
          </a:p>
        </p:txBody>
      </p:sp>
      <p:sp>
        <p:nvSpPr>
          <p:cNvPr name="Freeform 5" id="5"/>
          <p:cNvSpPr/>
          <p:nvPr/>
        </p:nvSpPr>
        <p:spPr>
          <a:xfrm flipH="false" flipV="true" rot="0">
            <a:off x="15839103" y="8971152"/>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2448897" y="8971152"/>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881450" y="2260657"/>
            <a:ext cx="14324181" cy="1672356"/>
            <a:chOff x="0" y="0"/>
            <a:chExt cx="4458130" cy="520489"/>
          </a:xfrm>
        </p:grpSpPr>
        <p:sp>
          <p:nvSpPr>
            <p:cNvPr name="Freeform 8" id="8"/>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9" id="9"/>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10" id="10"/>
          <p:cNvGrpSpPr/>
          <p:nvPr/>
        </p:nvGrpSpPr>
        <p:grpSpPr>
          <a:xfrm rot="0">
            <a:off x="1469643" y="2685027"/>
            <a:ext cx="823615" cy="8236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12" id="12"/>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13" id="13"/>
          <p:cNvSpPr txBox="true"/>
          <p:nvPr/>
        </p:nvSpPr>
        <p:spPr>
          <a:xfrm rot="0">
            <a:off x="2396683" y="2358769"/>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Counter </a:t>
            </a:r>
            <a:r>
              <a:rPr lang="en-US" sz="3052" b="true">
                <a:solidFill>
                  <a:srgbClr val="000000"/>
                </a:solidFill>
                <a:latin typeface="Be Vietnam Ultra-Bold"/>
                <a:ea typeface="Be Vietnam Ultra-Bold"/>
                <a:cs typeface="Be Vietnam Ultra-Bold"/>
                <a:sym typeface="Be Vietnam Ultra-Bold"/>
              </a:rPr>
              <a:t>internal bertambah ketika bit cocok dan sinyal valid hanya aktif jika seluruh bit PIN sesuai sehingga autentikasi bersifat ketat.</a:t>
            </a:r>
          </a:p>
          <a:p>
            <a:pPr algn="just">
              <a:lnSpc>
                <a:spcPts val="4274"/>
              </a:lnSpc>
            </a:pPr>
          </a:p>
        </p:txBody>
      </p:sp>
      <p:sp>
        <p:nvSpPr>
          <p:cNvPr name="TextBox 14" id="14"/>
          <p:cNvSpPr txBox="true"/>
          <p:nvPr/>
        </p:nvSpPr>
        <p:spPr>
          <a:xfrm rot="0">
            <a:off x="1495259" y="2829983"/>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5</a:t>
            </a:r>
          </a:p>
        </p:txBody>
      </p:sp>
      <p:grpSp>
        <p:nvGrpSpPr>
          <p:cNvPr name="Group 15" id="15"/>
          <p:cNvGrpSpPr/>
          <p:nvPr/>
        </p:nvGrpSpPr>
        <p:grpSpPr>
          <a:xfrm rot="0">
            <a:off x="1881450" y="4218763"/>
            <a:ext cx="14324181" cy="1672356"/>
            <a:chOff x="0" y="0"/>
            <a:chExt cx="4458130" cy="520489"/>
          </a:xfrm>
        </p:grpSpPr>
        <p:sp>
          <p:nvSpPr>
            <p:cNvPr name="Freeform 16" id="16"/>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17" id="17"/>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18" id="18"/>
          <p:cNvGrpSpPr/>
          <p:nvPr/>
        </p:nvGrpSpPr>
        <p:grpSpPr>
          <a:xfrm rot="0">
            <a:off x="1469643" y="4643133"/>
            <a:ext cx="823615" cy="82361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0" id="20"/>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1" id="21"/>
          <p:cNvSpPr txBox="true"/>
          <p:nvPr/>
        </p:nvSpPr>
        <p:spPr>
          <a:xfrm rot="0">
            <a:off x="2396683" y="4316875"/>
            <a:ext cx="13293715" cy="2108964"/>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Modul ba</a:t>
            </a:r>
            <a:r>
              <a:rPr lang="en-US" sz="3052" b="true">
                <a:solidFill>
                  <a:srgbClr val="000000"/>
                </a:solidFill>
                <a:latin typeface="Be Vietnam Ultra-Bold"/>
                <a:ea typeface="Be Vietnam Ultra-Bold"/>
                <a:cs typeface="Be Vietnam Ultra-Bold"/>
                <a:sym typeface="Be Vietnam Ultra-Bold"/>
              </a:rPr>
              <a:t>nk_ram berperan sebagai RAM sinkron yang menyimpan saldo masing-masing user dan diakses berdasarkan alamat.</a:t>
            </a:r>
          </a:p>
          <a:p>
            <a:pPr algn="l">
              <a:lnSpc>
                <a:spcPts val="4274"/>
              </a:lnSpc>
            </a:pPr>
          </a:p>
          <a:p>
            <a:pPr algn="just">
              <a:lnSpc>
                <a:spcPts val="4274"/>
              </a:lnSpc>
            </a:pPr>
          </a:p>
        </p:txBody>
      </p:sp>
      <p:sp>
        <p:nvSpPr>
          <p:cNvPr name="TextBox 22" id="22"/>
          <p:cNvSpPr txBox="true"/>
          <p:nvPr/>
        </p:nvSpPr>
        <p:spPr>
          <a:xfrm rot="0">
            <a:off x="1495259" y="4788089"/>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6</a:t>
            </a:r>
          </a:p>
        </p:txBody>
      </p:sp>
      <p:grpSp>
        <p:nvGrpSpPr>
          <p:cNvPr name="Group 23" id="23"/>
          <p:cNvGrpSpPr/>
          <p:nvPr/>
        </p:nvGrpSpPr>
        <p:grpSpPr>
          <a:xfrm rot="0">
            <a:off x="1881450" y="6176868"/>
            <a:ext cx="14324181" cy="1672356"/>
            <a:chOff x="0" y="0"/>
            <a:chExt cx="4458130" cy="520489"/>
          </a:xfrm>
        </p:grpSpPr>
        <p:sp>
          <p:nvSpPr>
            <p:cNvPr name="Freeform 24" id="24"/>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25" id="25"/>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26" id="26"/>
          <p:cNvGrpSpPr/>
          <p:nvPr/>
        </p:nvGrpSpPr>
        <p:grpSpPr>
          <a:xfrm rot="0">
            <a:off x="1469643" y="6601239"/>
            <a:ext cx="823615" cy="82361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8" id="28"/>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9" id="29"/>
          <p:cNvSpPr txBox="true"/>
          <p:nvPr/>
        </p:nvSpPr>
        <p:spPr>
          <a:xfrm rot="0">
            <a:off x="2396683" y="6274981"/>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Keluaran sald</a:t>
            </a:r>
            <a:r>
              <a:rPr lang="en-US" sz="3052" b="true">
                <a:solidFill>
                  <a:srgbClr val="000000"/>
                </a:solidFill>
                <a:latin typeface="Be Vietnam Ultra-Bold"/>
                <a:ea typeface="Be Vietnam Ultra-Bold"/>
                <a:cs typeface="Be Vietnam Ultra-Bold"/>
                <a:sym typeface="Be Vietnam Ultra-Bold"/>
              </a:rPr>
              <a:t>o dari bank_ram menjadi dasar perhitungan sebelum dikenakan biaya administrasi pada tahap berikutnya.</a:t>
            </a:r>
          </a:p>
          <a:p>
            <a:pPr algn="just">
              <a:lnSpc>
                <a:spcPts val="4274"/>
              </a:lnSpc>
            </a:pPr>
          </a:p>
        </p:txBody>
      </p:sp>
      <p:sp>
        <p:nvSpPr>
          <p:cNvPr name="TextBox 30" id="30"/>
          <p:cNvSpPr txBox="true"/>
          <p:nvPr/>
        </p:nvSpPr>
        <p:spPr>
          <a:xfrm rot="0">
            <a:off x="1495259" y="6746195"/>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7</a:t>
            </a:r>
          </a:p>
        </p:txBody>
      </p:sp>
      <p:grpSp>
        <p:nvGrpSpPr>
          <p:cNvPr name="Group 31" id="31"/>
          <p:cNvGrpSpPr/>
          <p:nvPr/>
        </p:nvGrpSpPr>
        <p:grpSpPr>
          <a:xfrm rot="0">
            <a:off x="1881450" y="8134974"/>
            <a:ext cx="14324181" cy="1672356"/>
            <a:chOff x="0" y="0"/>
            <a:chExt cx="4458130" cy="520489"/>
          </a:xfrm>
        </p:grpSpPr>
        <p:sp>
          <p:nvSpPr>
            <p:cNvPr name="Freeform 32" id="32"/>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33" id="33"/>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34" id="34"/>
          <p:cNvGrpSpPr/>
          <p:nvPr/>
        </p:nvGrpSpPr>
        <p:grpSpPr>
          <a:xfrm rot="0">
            <a:off x="1469643" y="8559345"/>
            <a:ext cx="823615" cy="82361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36" id="36"/>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37" id="37"/>
          <p:cNvSpPr txBox="true"/>
          <p:nvPr/>
        </p:nvSpPr>
        <p:spPr>
          <a:xfrm rot="0">
            <a:off x="2396683" y="8233086"/>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Modul </a:t>
            </a:r>
            <a:r>
              <a:rPr lang="en-US" sz="3052" b="true">
                <a:solidFill>
                  <a:srgbClr val="000000"/>
                </a:solidFill>
                <a:latin typeface="Be Vietnam Ultra-Bold"/>
                <a:ea typeface="Be Vietnam Ultra-Bold"/>
                <a:cs typeface="Be Vietnam Ultra-Bold"/>
                <a:sym typeface="Be Vietnam Ultra-Bold"/>
              </a:rPr>
              <a:t>rom_microcode menyimpan pola sinyal kendali untuk setiap state FSM dan berfungsi sebagai control store sistem.</a:t>
            </a:r>
          </a:p>
          <a:p>
            <a:pPr algn="just">
              <a:lnSpc>
                <a:spcPts val="4274"/>
              </a:lnSpc>
            </a:pPr>
          </a:p>
        </p:txBody>
      </p:sp>
      <p:sp>
        <p:nvSpPr>
          <p:cNvPr name="TextBox 38" id="38"/>
          <p:cNvSpPr txBox="true"/>
          <p:nvPr/>
        </p:nvSpPr>
        <p:spPr>
          <a:xfrm rot="0">
            <a:off x="1495259" y="8704301"/>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8</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180352"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15336"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545388" y="899379"/>
            <a:ext cx="13197223" cy="1076325"/>
          </a:xfrm>
          <a:prstGeom prst="rect">
            <a:avLst/>
          </a:prstGeom>
        </p:spPr>
        <p:txBody>
          <a:bodyPr anchor="t" rtlCol="false" tIns="0" lIns="0" bIns="0" rIns="0">
            <a:spAutoFit/>
          </a:bodyPr>
          <a:lstStyle/>
          <a:p>
            <a:pPr algn="ctr">
              <a:lnSpc>
                <a:spcPts val="8250"/>
              </a:lnSpc>
            </a:pPr>
            <a:r>
              <a:rPr lang="en-US" sz="7500">
                <a:solidFill>
                  <a:srgbClr val="000000"/>
                </a:solidFill>
                <a:latin typeface="Rubik One"/>
                <a:ea typeface="Rubik One"/>
                <a:cs typeface="Rubik One"/>
                <a:sym typeface="Rubik One"/>
              </a:rPr>
              <a:t>IMPLEMENTASI SISTEM</a:t>
            </a:r>
          </a:p>
        </p:txBody>
      </p:sp>
      <p:sp>
        <p:nvSpPr>
          <p:cNvPr name="Freeform 5" id="5"/>
          <p:cNvSpPr/>
          <p:nvPr/>
        </p:nvSpPr>
        <p:spPr>
          <a:xfrm flipH="false" flipV="true" rot="0">
            <a:off x="15839103" y="8971152"/>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2448897" y="8971152"/>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881450" y="2260657"/>
            <a:ext cx="14324181" cy="1672356"/>
            <a:chOff x="0" y="0"/>
            <a:chExt cx="4458130" cy="520489"/>
          </a:xfrm>
        </p:grpSpPr>
        <p:sp>
          <p:nvSpPr>
            <p:cNvPr name="Freeform 8" id="8"/>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9" id="9"/>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10" id="10"/>
          <p:cNvGrpSpPr/>
          <p:nvPr/>
        </p:nvGrpSpPr>
        <p:grpSpPr>
          <a:xfrm rot="0">
            <a:off x="1469643" y="2685027"/>
            <a:ext cx="823615" cy="8236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12" id="12"/>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13" id="13"/>
          <p:cNvSpPr txBox="true"/>
          <p:nvPr/>
        </p:nvSpPr>
        <p:spPr>
          <a:xfrm rot="0">
            <a:off x="2396683" y="2358769"/>
            <a:ext cx="13293715" cy="1036882"/>
          </a:xfrm>
          <a:prstGeom prst="rect">
            <a:avLst/>
          </a:prstGeom>
        </p:spPr>
        <p:txBody>
          <a:bodyPr anchor="t" rtlCol="false" tIns="0" lIns="0" bIns="0" rIns="0">
            <a:spAutoFit/>
          </a:bodyPr>
          <a:lstStyle/>
          <a:p>
            <a:pPr algn="just">
              <a:lnSpc>
                <a:spcPts val="4274"/>
              </a:lnSpc>
            </a:pPr>
            <a:r>
              <a:rPr lang="en-US" sz="3052" b="true">
                <a:solidFill>
                  <a:srgbClr val="000000"/>
                </a:solidFill>
                <a:latin typeface="Be Vietnam Ultra-Bold"/>
                <a:ea typeface="Be Vietnam Ultra-Bold"/>
                <a:cs typeface="Be Vietnam Ultra-Bold"/>
                <a:sym typeface="Be Vietnam Ultra-Bold"/>
              </a:rPr>
              <a:t>Setiap alamat ROM</a:t>
            </a:r>
            <a:r>
              <a:rPr lang="en-US" sz="3052" b="true">
                <a:solidFill>
                  <a:srgbClr val="000000"/>
                </a:solidFill>
                <a:latin typeface="Be Vietnam Ultra-Bold"/>
                <a:ea typeface="Be Vietnam Ultra-Bold"/>
                <a:cs typeface="Be Vietnam Ultra-Bold"/>
                <a:sym typeface="Be Vietnam Ultra-Bold"/>
              </a:rPr>
              <a:t> merepresentasikan kombinasi output, misalnya pengaturan LED, indikator sukses, dan indikator error</a:t>
            </a:r>
          </a:p>
        </p:txBody>
      </p:sp>
      <p:sp>
        <p:nvSpPr>
          <p:cNvPr name="TextBox 14" id="14"/>
          <p:cNvSpPr txBox="true"/>
          <p:nvPr/>
        </p:nvSpPr>
        <p:spPr>
          <a:xfrm rot="0">
            <a:off x="1495259" y="2829983"/>
            <a:ext cx="756261" cy="1192452"/>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98</a:t>
            </a:r>
          </a:p>
        </p:txBody>
      </p:sp>
      <p:grpSp>
        <p:nvGrpSpPr>
          <p:cNvPr name="Group 15" id="15"/>
          <p:cNvGrpSpPr/>
          <p:nvPr/>
        </p:nvGrpSpPr>
        <p:grpSpPr>
          <a:xfrm rot="0">
            <a:off x="1881450" y="4218763"/>
            <a:ext cx="14324181" cy="1672356"/>
            <a:chOff x="0" y="0"/>
            <a:chExt cx="4458130" cy="520489"/>
          </a:xfrm>
        </p:grpSpPr>
        <p:sp>
          <p:nvSpPr>
            <p:cNvPr name="Freeform 16" id="16"/>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17" id="17"/>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18" id="18"/>
          <p:cNvGrpSpPr/>
          <p:nvPr/>
        </p:nvGrpSpPr>
        <p:grpSpPr>
          <a:xfrm rot="0">
            <a:off x="1469643" y="4643133"/>
            <a:ext cx="823615" cy="82361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0" id="20"/>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1" id="21"/>
          <p:cNvSpPr txBox="true"/>
          <p:nvPr/>
        </p:nvSpPr>
        <p:spPr>
          <a:xfrm rot="0">
            <a:off x="2396683" y="4288300"/>
            <a:ext cx="12924824" cy="2015256"/>
          </a:xfrm>
          <a:prstGeom prst="rect">
            <a:avLst/>
          </a:prstGeom>
        </p:spPr>
        <p:txBody>
          <a:bodyPr anchor="t" rtlCol="false" tIns="0" lIns="0" bIns="0" rIns="0">
            <a:spAutoFit/>
          </a:bodyPr>
          <a:lstStyle/>
          <a:p>
            <a:pPr algn="l">
              <a:lnSpc>
                <a:spcPts val="4059"/>
              </a:lnSpc>
            </a:pPr>
            <a:r>
              <a:rPr lang="en-US" sz="2899" b="true">
                <a:solidFill>
                  <a:srgbClr val="000000"/>
                </a:solidFill>
                <a:latin typeface="Be Vietnam Ultra-Bold"/>
                <a:ea typeface="Be Vietnam Ultra-Bold"/>
                <a:cs typeface="Be Vietnam Ultra-Bold"/>
                <a:sym typeface="Be Vietnam Ultra-Bold"/>
              </a:rPr>
              <a:t>Modul fsm_controller me</a:t>
            </a:r>
            <a:r>
              <a:rPr lang="en-US" sz="2899" b="true">
                <a:solidFill>
                  <a:srgbClr val="000000"/>
                </a:solidFill>
                <a:latin typeface="Be Vietnam Ultra-Bold"/>
                <a:ea typeface="Be Vietnam Ultra-Bold"/>
                <a:cs typeface="Be Vietnam Ultra-Bold"/>
                <a:sym typeface="Be Vietnam Ultra-Bold"/>
              </a:rPr>
              <a:t>ngatur perpindahan state seperti IDLE, CEK_PIN, TAMPIL_SALDO, dan ERROR berdasarkan input dan kondisi autentikasi.</a:t>
            </a:r>
          </a:p>
          <a:p>
            <a:pPr algn="just">
              <a:lnSpc>
                <a:spcPts val="4059"/>
              </a:lnSpc>
            </a:pPr>
          </a:p>
        </p:txBody>
      </p:sp>
      <p:sp>
        <p:nvSpPr>
          <p:cNvPr name="TextBox 22" id="22"/>
          <p:cNvSpPr txBox="true"/>
          <p:nvPr/>
        </p:nvSpPr>
        <p:spPr>
          <a:xfrm rot="0">
            <a:off x="1495259" y="4788089"/>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10</a:t>
            </a:r>
          </a:p>
        </p:txBody>
      </p:sp>
      <p:grpSp>
        <p:nvGrpSpPr>
          <p:cNvPr name="Group 23" id="23"/>
          <p:cNvGrpSpPr/>
          <p:nvPr/>
        </p:nvGrpSpPr>
        <p:grpSpPr>
          <a:xfrm rot="0">
            <a:off x="1881450" y="6176868"/>
            <a:ext cx="14324181" cy="1672356"/>
            <a:chOff x="0" y="0"/>
            <a:chExt cx="4458130" cy="520489"/>
          </a:xfrm>
        </p:grpSpPr>
        <p:sp>
          <p:nvSpPr>
            <p:cNvPr name="Freeform 24" id="24"/>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25" id="25"/>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26" id="26"/>
          <p:cNvGrpSpPr/>
          <p:nvPr/>
        </p:nvGrpSpPr>
        <p:grpSpPr>
          <a:xfrm rot="0">
            <a:off x="1469643" y="6601239"/>
            <a:ext cx="823615" cy="82361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8" id="28"/>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9" id="29"/>
          <p:cNvSpPr txBox="true"/>
          <p:nvPr/>
        </p:nvSpPr>
        <p:spPr>
          <a:xfrm rot="0">
            <a:off x="2396683" y="6157818"/>
            <a:ext cx="13117387" cy="2015256"/>
          </a:xfrm>
          <a:prstGeom prst="rect">
            <a:avLst/>
          </a:prstGeom>
        </p:spPr>
        <p:txBody>
          <a:bodyPr anchor="t" rtlCol="false" tIns="0" lIns="0" bIns="0" rIns="0">
            <a:spAutoFit/>
          </a:bodyPr>
          <a:lstStyle/>
          <a:p>
            <a:pPr algn="l">
              <a:lnSpc>
                <a:spcPts val="4059"/>
              </a:lnSpc>
            </a:pPr>
            <a:r>
              <a:rPr lang="en-US" sz="2899" b="true">
                <a:solidFill>
                  <a:srgbClr val="000000"/>
                </a:solidFill>
                <a:latin typeface="Be Vietnam Ultra-Bold"/>
                <a:ea typeface="Be Vietnam Ultra-Bold"/>
                <a:cs typeface="Be Vietnam Ultra-Bold"/>
                <a:sym typeface="Be Vietnam Ultra-Bold"/>
              </a:rPr>
              <a:t>Proce</a:t>
            </a:r>
            <a:r>
              <a:rPr lang="en-US" sz="2899" b="true">
                <a:solidFill>
                  <a:srgbClr val="000000"/>
                </a:solidFill>
                <a:latin typeface="Be Vietnam Ultra-Bold"/>
                <a:ea typeface="Be Vietnam Ultra-Bold"/>
                <a:cs typeface="Be Vietnam Ultra-Bold"/>
                <a:sym typeface="Be Vietnam Ultra-Bold"/>
              </a:rPr>
              <a:t>dure di dalam fsm_controller digunakan untuk memetakan keluaran ROM ke sinyal output sehingga logika transisi state dan logika output terpisah dan lebih fleksibel.</a:t>
            </a:r>
          </a:p>
          <a:p>
            <a:pPr algn="just">
              <a:lnSpc>
                <a:spcPts val="4059"/>
              </a:lnSpc>
            </a:pPr>
          </a:p>
        </p:txBody>
      </p:sp>
      <p:sp>
        <p:nvSpPr>
          <p:cNvPr name="TextBox 30" id="30"/>
          <p:cNvSpPr txBox="true"/>
          <p:nvPr/>
        </p:nvSpPr>
        <p:spPr>
          <a:xfrm rot="0">
            <a:off x="1495259" y="6746195"/>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11</a:t>
            </a:r>
          </a:p>
        </p:txBody>
      </p:sp>
      <p:grpSp>
        <p:nvGrpSpPr>
          <p:cNvPr name="Group 31" id="31"/>
          <p:cNvGrpSpPr/>
          <p:nvPr/>
        </p:nvGrpSpPr>
        <p:grpSpPr>
          <a:xfrm rot="0">
            <a:off x="1881450" y="8134974"/>
            <a:ext cx="14324181" cy="1672356"/>
            <a:chOff x="0" y="0"/>
            <a:chExt cx="4458130" cy="520489"/>
          </a:xfrm>
        </p:grpSpPr>
        <p:sp>
          <p:nvSpPr>
            <p:cNvPr name="Freeform 32" id="32"/>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33" id="33"/>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34" id="34"/>
          <p:cNvGrpSpPr/>
          <p:nvPr/>
        </p:nvGrpSpPr>
        <p:grpSpPr>
          <a:xfrm rot="0">
            <a:off x="1469643" y="8559345"/>
            <a:ext cx="823615" cy="82361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36" id="36"/>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37" id="37"/>
          <p:cNvSpPr txBox="true"/>
          <p:nvPr/>
        </p:nvSpPr>
        <p:spPr>
          <a:xfrm rot="0">
            <a:off x="2396683" y="8233086"/>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Modul</a:t>
            </a:r>
            <a:r>
              <a:rPr lang="en-US" sz="3052" b="true">
                <a:solidFill>
                  <a:srgbClr val="000000"/>
                </a:solidFill>
                <a:latin typeface="Be Vietnam Ultra-Bold"/>
                <a:ea typeface="Be Vietnam Ultra-Bold"/>
                <a:cs typeface="Be Vietnam Ultra-Bold"/>
                <a:sym typeface="Be Vietnam Ultra-Bold"/>
              </a:rPr>
              <a:t> clk_divider membagi frekuensi clock utama agar perubahan state pada FSM lebih mudah diamati saat simulasi.</a:t>
            </a:r>
          </a:p>
          <a:p>
            <a:pPr algn="just">
              <a:lnSpc>
                <a:spcPts val="4274"/>
              </a:lnSpc>
            </a:pPr>
          </a:p>
        </p:txBody>
      </p:sp>
      <p:sp>
        <p:nvSpPr>
          <p:cNvPr name="TextBox 38" id="38"/>
          <p:cNvSpPr txBox="true"/>
          <p:nvPr/>
        </p:nvSpPr>
        <p:spPr>
          <a:xfrm rot="0">
            <a:off x="1495259" y="8704301"/>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12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180352"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15336"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545388" y="899379"/>
            <a:ext cx="13197223" cy="1076325"/>
          </a:xfrm>
          <a:prstGeom prst="rect">
            <a:avLst/>
          </a:prstGeom>
        </p:spPr>
        <p:txBody>
          <a:bodyPr anchor="t" rtlCol="false" tIns="0" lIns="0" bIns="0" rIns="0">
            <a:spAutoFit/>
          </a:bodyPr>
          <a:lstStyle/>
          <a:p>
            <a:pPr algn="ctr">
              <a:lnSpc>
                <a:spcPts val="8250"/>
              </a:lnSpc>
            </a:pPr>
            <a:r>
              <a:rPr lang="en-US" sz="7500">
                <a:solidFill>
                  <a:srgbClr val="000000"/>
                </a:solidFill>
                <a:latin typeface="Rubik One"/>
                <a:ea typeface="Rubik One"/>
                <a:cs typeface="Rubik One"/>
                <a:sym typeface="Rubik One"/>
              </a:rPr>
              <a:t>IMPLEMENTASI SISTEM</a:t>
            </a:r>
          </a:p>
        </p:txBody>
      </p:sp>
      <p:sp>
        <p:nvSpPr>
          <p:cNvPr name="Freeform 5" id="5"/>
          <p:cNvSpPr/>
          <p:nvPr/>
        </p:nvSpPr>
        <p:spPr>
          <a:xfrm flipH="false" flipV="true" rot="0">
            <a:off x="15839103" y="8971152"/>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2448897" y="8971152"/>
            <a:ext cx="4897794" cy="3321595"/>
          </a:xfrm>
          <a:custGeom>
            <a:avLst/>
            <a:gdLst/>
            <a:ahLst/>
            <a:cxnLst/>
            <a:rect r="r" b="b" t="t" l="l"/>
            <a:pathLst>
              <a:path h="3321595" w="4897794">
                <a:moveTo>
                  <a:pt x="0" y="3321595"/>
                </a:moveTo>
                <a:lnTo>
                  <a:pt x="4897794" y="3321595"/>
                </a:lnTo>
                <a:lnTo>
                  <a:pt x="4897794" y="0"/>
                </a:lnTo>
                <a:lnTo>
                  <a:pt x="0" y="0"/>
                </a:lnTo>
                <a:lnTo>
                  <a:pt x="0" y="3321595"/>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881450" y="2260657"/>
            <a:ext cx="14324181" cy="1672356"/>
            <a:chOff x="0" y="0"/>
            <a:chExt cx="4458130" cy="520489"/>
          </a:xfrm>
        </p:grpSpPr>
        <p:sp>
          <p:nvSpPr>
            <p:cNvPr name="Freeform 8" id="8"/>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9" id="9"/>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10" id="10"/>
          <p:cNvGrpSpPr/>
          <p:nvPr/>
        </p:nvGrpSpPr>
        <p:grpSpPr>
          <a:xfrm rot="0">
            <a:off x="1469643" y="2685027"/>
            <a:ext cx="823615" cy="8236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12" id="12"/>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13" id="13"/>
          <p:cNvSpPr txBox="true"/>
          <p:nvPr/>
        </p:nvSpPr>
        <p:spPr>
          <a:xfrm rot="0">
            <a:off x="2396683" y="2358769"/>
            <a:ext cx="13293715" cy="1570282"/>
          </a:xfrm>
          <a:prstGeom prst="rect">
            <a:avLst/>
          </a:prstGeom>
        </p:spPr>
        <p:txBody>
          <a:bodyPr anchor="t" rtlCol="false" tIns="0" lIns="0" bIns="0" rIns="0">
            <a:spAutoFit/>
          </a:bodyPr>
          <a:lstStyle/>
          <a:p>
            <a:pPr algn="just">
              <a:lnSpc>
                <a:spcPts val="4274"/>
              </a:lnSpc>
            </a:pPr>
            <a:r>
              <a:rPr lang="en-US" sz="3052" b="true">
                <a:solidFill>
                  <a:srgbClr val="000000"/>
                </a:solidFill>
                <a:latin typeface="Be Vietnam Ultra-Bold"/>
                <a:ea typeface="Be Vietnam Ultra-Bold"/>
                <a:cs typeface="Be Vietnam Ultra-Bold"/>
                <a:sym typeface="Be Vietnam Ultra-Bold"/>
              </a:rPr>
              <a:t>atm_top</a:t>
            </a:r>
            <a:r>
              <a:rPr lang="en-US" sz="3052" b="true">
                <a:solidFill>
                  <a:srgbClr val="000000"/>
                </a:solidFill>
                <a:latin typeface="Be Vietnam Ultra-Bold"/>
                <a:ea typeface="Be Vietnam Ultra-Bold"/>
                <a:cs typeface="Be Vietnam Ultra-Bold"/>
                <a:sym typeface="Be Vietnam Ultra-Bold"/>
              </a:rPr>
              <a:t> menginstansiasi dan menghubungkan seluruh modul sehingga terbentuk satu kesatuan sistem ATM yang utuh.</a:t>
            </a:r>
          </a:p>
          <a:p>
            <a:pPr algn="just">
              <a:lnSpc>
                <a:spcPts val="4274"/>
              </a:lnSpc>
            </a:pPr>
          </a:p>
        </p:txBody>
      </p:sp>
      <p:sp>
        <p:nvSpPr>
          <p:cNvPr name="TextBox 14" id="14"/>
          <p:cNvSpPr txBox="true"/>
          <p:nvPr/>
        </p:nvSpPr>
        <p:spPr>
          <a:xfrm rot="0">
            <a:off x="1495259" y="2829983"/>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13</a:t>
            </a:r>
          </a:p>
        </p:txBody>
      </p:sp>
      <p:grpSp>
        <p:nvGrpSpPr>
          <p:cNvPr name="Group 15" id="15"/>
          <p:cNvGrpSpPr/>
          <p:nvPr/>
        </p:nvGrpSpPr>
        <p:grpSpPr>
          <a:xfrm rot="0">
            <a:off x="1881450" y="4218763"/>
            <a:ext cx="14324181" cy="1672356"/>
            <a:chOff x="0" y="0"/>
            <a:chExt cx="4458130" cy="520489"/>
          </a:xfrm>
        </p:grpSpPr>
        <p:sp>
          <p:nvSpPr>
            <p:cNvPr name="Freeform 16" id="16"/>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17" id="17"/>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18" id="18"/>
          <p:cNvGrpSpPr/>
          <p:nvPr/>
        </p:nvGrpSpPr>
        <p:grpSpPr>
          <a:xfrm rot="0">
            <a:off x="1469643" y="4643133"/>
            <a:ext cx="823615" cy="82361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0" id="20"/>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1" id="21"/>
          <p:cNvSpPr txBox="true"/>
          <p:nvPr/>
        </p:nvSpPr>
        <p:spPr>
          <a:xfrm rot="0">
            <a:off x="2396683" y="4288300"/>
            <a:ext cx="12924824" cy="1507314"/>
          </a:xfrm>
          <a:prstGeom prst="rect">
            <a:avLst/>
          </a:prstGeom>
        </p:spPr>
        <p:txBody>
          <a:bodyPr anchor="t" rtlCol="false" tIns="0" lIns="0" bIns="0" rIns="0">
            <a:spAutoFit/>
          </a:bodyPr>
          <a:lstStyle/>
          <a:p>
            <a:pPr algn="just">
              <a:lnSpc>
                <a:spcPts val="4059"/>
              </a:lnSpc>
            </a:pPr>
            <a:r>
              <a:rPr lang="en-US" sz="2899" b="true">
                <a:solidFill>
                  <a:srgbClr val="000000"/>
                </a:solidFill>
                <a:latin typeface="Be Vietnam Ultra-Bold"/>
                <a:ea typeface="Be Vietnam Ultra-Bold"/>
                <a:cs typeface="Be Vietnam Ultra-Bold"/>
                <a:sym typeface="Be Vietnam Ultra-Bold"/>
              </a:rPr>
              <a:t>Logika tambahan di atm_top mem</a:t>
            </a:r>
            <a:r>
              <a:rPr lang="en-US" sz="2899" b="true">
                <a:solidFill>
                  <a:srgbClr val="000000"/>
                </a:solidFill>
                <a:latin typeface="Be Vietnam Ultra-Bold"/>
                <a:ea typeface="Be Vietnam Ultra-Bold"/>
                <a:cs typeface="Be Vietnam Ultra-Bold"/>
                <a:sym typeface="Be Vietnam Ultra-Bold"/>
              </a:rPr>
              <a:t>astikan saldo hanya ditampilkan ketika autentikasi PIN berhasil untuk menjaga kerahasiaan saldo.</a:t>
            </a:r>
          </a:p>
          <a:p>
            <a:pPr algn="just">
              <a:lnSpc>
                <a:spcPts val="4059"/>
              </a:lnSpc>
            </a:pPr>
          </a:p>
        </p:txBody>
      </p:sp>
      <p:sp>
        <p:nvSpPr>
          <p:cNvPr name="TextBox 22" id="22"/>
          <p:cNvSpPr txBox="true"/>
          <p:nvPr/>
        </p:nvSpPr>
        <p:spPr>
          <a:xfrm rot="0">
            <a:off x="1495259" y="4788089"/>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14</a:t>
            </a:r>
          </a:p>
        </p:txBody>
      </p:sp>
      <p:grpSp>
        <p:nvGrpSpPr>
          <p:cNvPr name="Group 23" id="23"/>
          <p:cNvGrpSpPr/>
          <p:nvPr/>
        </p:nvGrpSpPr>
        <p:grpSpPr>
          <a:xfrm rot="0">
            <a:off x="1881450" y="6176868"/>
            <a:ext cx="14324181" cy="1672356"/>
            <a:chOff x="0" y="0"/>
            <a:chExt cx="4458130" cy="520489"/>
          </a:xfrm>
        </p:grpSpPr>
        <p:sp>
          <p:nvSpPr>
            <p:cNvPr name="Freeform 24" id="24"/>
            <p:cNvSpPr/>
            <p:nvPr/>
          </p:nvSpPr>
          <p:spPr>
            <a:xfrm flipH="false" flipV="false" rot="0">
              <a:off x="0" y="0"/>
              <a:ext cx="4458130" cy="520489"/>
            </a:xfrm>
            <a:custGeom>
              <a:avLst/>
              <a:gdLst/>
              <a:ahLst/>
              <a:cxnLst/>
              <a:rect r="r" b="b" t="t" l="l"/>
              <a:pathLst>
                <a:path h="520489" w="4458130">
                  <a:moveTo>
                    <a:pt x="21619" y="0"/>
                  </a:moveTo>
                  <a:lnTo>
                    <a:pt x="4436511" y="0"/>
                  </a:lnTo>
                  <a:cubicBezTo>
                    <a:pt x="4448451" y="0"/>
                    <a:pt x="4458130" y="9679"/>
                    <a:pt x="4458130" y="21619"/>
                  </a:cubicBezTo>
                  <a:lnTo>
                    <a:pt x="4458130" y="498870"/>
                  </a:lnTo>
                  <a:cubicBezTo>
                    <a:pt x="4458130" y="504604"/>
                    <a:pt x="4455852" y="510103"/>
                    <a:pt x="4451798" y="514157"/>
                  </a:cubicBezTo>
                  <a:cubicBezTo>
                    <a:pt x="4447743" y="518211"/>
                    <a:pt x="4442244" y="520489"/>
                    <a:pt x="4436511" y="520489"/>
                  </a:cubicBezTo>
                  <a:lnTo>
                    <a:pt x="21619" y="520489"/>
                  </a:lnTo>
                  <a:cubicBezTo>
                    <a:pt x="9679" y="520489"/>
                    <a:pt x="0" y="510810"/>
                    <a:pt x="0" y="498870"/>
                  </a:cubicBezTo>
                  <a:lnTo>
                    <a:pt x="0" y="21619"/>
                  </a:lnTo>
                  <a:cubicBezTo>
                    <a:pt x="0" y="9679"/>
                    <a:pt x="9679" y="0"/>
                    <a:pt x="21619" y="0"/>
                  </a:cubicBezTo>
                  <a:close/>
                </a:path>
              </a:pathLst>
            </a:custGeom>
            <a:solidFill>
              <a:srgbClr val="8DC8A3"/>
            </a:solidFill>
          </p:spPr>
        </p:sp>
        <p:sp>
          <p:nvSpPr>
            <p:cNvPr name="TextBox 25" id="25"/>
            <p:cNvSpPr txBox="true"/>
            <p:nvPr/>
          </p:nvSpPr>
          <p:spPr>
            <a:xfrm>
              <a:off x="0" y="-38100"/>
              <a:ext cx="4458130" cy="558589"/>
            </a:xfrm>
            <a:prstGeom prst="rect">
              <a:avLst/>
            </a:prstGeom>
          </p:spPr>
          <p:txBody>
            <a:bodyPr anchor="ctr" rtlCol="false" tIns="42989" lIns="42989" bIns="42989" rIns="42989"/>
            <a:lstStyle/>
            <a:p>
              <a:pPr algn="ctr">
                <a:lnSpc>
                  <a:spcPts val="2660"/>
                </a:lnSpc>
              </a:pPr>
            </a:p>
          </p:txBody>
        </p:sp>
      </p:grpSp>
      <p:grpSp>
        <p:nvGrpSpPr>
          <p:cNvPr name="Group 26" id="26"/>
          <p:cNvGrpSpPr/>
          <p:nvPr/>
        </p:nvGrpSpPr>
        <p:grpSpPr>
          <a:xfrm rot="0">
            <a:off x="1469643" y="6601239"/>
            <a:ext cx="823615" cy="82361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8" id="28"/>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9" id="29"/>
          <p:cNvSpPr txBox="true"/>
          <p:nvPr/>
        </p:nvSpPr>
        <p:spPr>
          <a:xfrm rot="0">
            <a:off x="2396683" y="6157818"/>
            <a:ext cx="13117387" cy="2015256"/>
          </a:xfrm>
          <a:prstGeom prst="rect">
            <a:avLst/>
          </a:prstGeom>
        </p:spPr>
        <p:txBody>
          <a:bodyPr anchor="t" rtlCol="false" tIns="0" lIns="0" bIns="0" rIns="0">
            <a:spAutoFit/>
          </a:bodyPr>
          <a:lstStyle/>
          <a:p>
            <a:pPr algn="l">
              <a:lnSpc>
                <a:spcPts val="4059"/>
              </a:lnSpc>
            </a:pPr>
            <a:r>
              <a:rPr lang="en-US" sz="2899" b="true">
                <a:solidFill>
                  <a:srgbClr val="000000"/>
                </a:solidFill>
                <a:latin typeface="Be Vietnam Ultra-Bold"/>
                <a:ea typeface="Be Vietnam Ultra-Bold"/>
                <a:cs typeface="Be Vietnam Ultra-Bold"/>
                <a:sym typeface="Be Vietnam Ultra-Bold"/>
              </a:rPr>
              <a:t>Pa</a:t>
            </a:r>
            <a:r>
              <a:rPr lang="en-US" sz="2899" b="true">
                <a:solidFill>
                  <a:srgbClr val="000000"/>
                </a:solidFill>
                <a:latin typeface="Be Vietnam Ultra-Bold"/>
                <a:ea typeface="Be Vietnam Ultra-Bold"/>
                <a:cs typeface="Be Vietnam Ultra-Bold"/>
                <a:sym typeface="Be Vietnam Ultra-Bold"/>
              </a:rPr>
              <a:t>da state IDLE atau ERROR, nilai saldo dipaksa menjadi 0000 sehingga informasi saldo tidak bocor ke keluaran ketika sistem tidak berada pada kondisi aman.</a:t>
            </a:r>
          </a:p>
          <a:p>
            <a:pPr algn="just">
              <a:lnSpc>
                <a:spcPts val="4059"/>
              </a:lnSpc>
            </a:pPr>
          </a:p>
        </p:txBody>
      </p:sp>
      <p:sp>
        <p:nvSpPr>
          <p:cNvPr name="TextBox 30" id="30"/>
          <p:cNvSpPr txBox="true"/>
          <p:nvPr/>
        </p:nvSpPr>
        <p:spPr>
          <a:xfrm rot="0">
            <a:off x="1495259" y="6746195"/>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15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65624" y="8347905"/>
            <a:ext cx="22019248" cy="3154524"/>
            <a:chOff x="0" y="0"/>
            <a:chExt cx="5799308" cy="830821"/>
          </a:xfrm>
        </p:grpSpPr>
        <p:sp>
          <p:nvSpPr>
            <p:cNvPr name="Freeform 3" id="3"/>
            <p:cNvSpPr/>
            <p:nvPr/>
          </p:nvSpPr>
          <p:spPr>
            <a:xfrm flipH="false" flipV="false" rot="0">
              <a:off x="0" y="0"/>
              <a:ext cx="5799308" cy="830821"/>
            </a:xfrm>
            <a:custGeom>
              <a:avLst/>
              <a:gdLst/>
              <a:ahLst/>
              <a:cxnLst/>
              <a:rect r="r" b="b" t="t" l="l"/>
              <a:pathLst>
                <a:path h="830821" w="5799308">
                  <a:moveTo>
                    <a:pt x="0" y="0"/>
                  </a:moveTo>
                  <a:lnTo>
                    <a:pt x="5799308" y="0"/>
                  </a:lnTo>
                  <a:lnTo>
                    <a:pt x="5799308" y="830821"/>
                  </a:lnTo>
                  <a:lnTo>
                    <a:pt x="0" y="830821"/>
                  </a:lnTo>
                  <a:close/>
                </a:path>
              </a:pathLst>
            </a:custGeom>
            <a:solidFill>
              <a:srgbClr val="5FA8C7"/>
            </a:solidFill>
          </p:spPr>
        </p:sp>
        <p:sp>
          <p:nvSpPr>
            <p:cNvPr name="TextBox 4" id="4"/>
            <p:cNvSpPr txBox="true"/>
            <p:nvPr/>
          </p:nvSpPr>
          <p:spPr>
            <a:xfrm>
              <a:off x="0" y="-38100"/>
              <a:ext cx="5799308" cy="86892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180352"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215336"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true" rot="0">
            <a:off x="15839103"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2448897"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9638837" y="4006599"/>
            <a:ext cx="7799318" cy="1423376"/>
          </a:xfrm>
          <a:custGeom>
            <a:avLst/>
            <a:gdLst/>
            <a:ahLst/>
            <a:cxnLst/>
            <a:rect r="r" b="b" t="t" l="l"/>
            <a:pathLst>
              <a:path h="1423376" w="7799318">
                <a:moveTo>
                  <a:pt x="0" y="0"/>
                </a:moveTo>
                <a:lnTo>
                  <a:pt x="7799318" y="0"/>
                </a:lnTo>
                <a:lnTo>
                  <a:pt x="7799318" y="1423376"/>
                </a:lnTo>
                <a:lnTo>
                  <a:pt x="0" y="1423376"/>
                </a:lnTo>
                <a:lnTo>
                  <a:pt x="0" y="0"/>
                </a:lnTo>
                <a:close/>
              </a:path>
            </a:pathLst>
          </a:custGeom>
          <a:blipFill>
            <a:blip r:embed="rId6"/>
            <a:stretch>
              <a:fillRect l="0" t="0" r="0" b="0"/>
            </a:stretch>
          </a:blipFill>
        </p:spPr>
      </p:sp>
      <p:sp>
        <p:nvSpPr>
          <p:cNvPr name="Freeform 10" id="10"/>
          <p:cNvSpPr/>
          <p:nvPr/>
        </p:nvSpPr>
        <p:spPr>
          <a:xfrm flipH="false" flipV="false" rot="0">
            <a:off x="1107648" y="2378151"/>
            <a:ext cx="6375578" cy="3418904"/>
          </a:xfrm>
          <a:custGeom>
            <a:avLst/>
            <a:gdLst/>
            <a:ahLst/>
            <a:cxnLst/>
            <a:rect r="r" b="b" t="t" l="l"/>
            <a:pathLst>
              <a:path h="3418904" w="6375578">
                <a:moveTo>
                  <a:pt x="0" y="0"/>
                </a:moveTo>
                <a:lnTo>
                  <a:pt x="6375578" y="0"/>
                </a:lnTo>
                <a:lnTo>
                  <a:pt x="6375578" y="3418904"/>
                </a:lnTo>
                <a:lnTo>
                  <a:pt x="0" y="3418904"/>
                </a:lnTo>
                <a:lnTo>
                  <a:pt x="0" y="0"/>
                </a:lnTo>
                <a:close/>
              </a:path>
            </a:pathLst>
          </a:custGeom>
          <a:blipFill>
            <a:blip r:embed="rId7"/>
            <a:stretch>
              <a:fillRect l="0" t="0" r="0" b="0"/>
            </a:stretch>
          </a:blipFill>
        </p:spPr>
      </p:sp>
      <p:sp>
        <p:nvSpPr>
          <p:cNvPr name="TextBox 11" id="11"/>
          <p:cNvSpPr txBox="true"/>
          <p:nvPr/>
        </p:nvSpPr>
        <p:spPr>
          <a:xfrm rot="0">
            <a:off x="2545388" y="899379"/>
            <a:ext cx="13197223" cy="1076325"/>
          </a:xfrm>
          <a:prstGeom prst="rect">
            <a:avLst/>
          </a:prstGeom>
        </p:spPr>
        <p:txBody>
          <a:bodyPr anchor="t" rtlCol="false" tIns="0" lIns="0" bIns="0" rIns="0">
            <a:spAutoFit/>
          </a:bodyPr>
          <a:lstStyle/>
          <a:p>
            <a:pPr algn="ctr">
              <a:lnSpc>
                <a:spcPts val="8250"/>
              </a:lnSpc>
            </a:pPr>
            <a:r>
              <a:rPr lang="en-US" sz="7500">
                <a:solidFill>
                  <a:srgbClr val="000000"/>
                </a:solidFill>
                <a:latin typeface="Rubik One"/>
                <a:ea typeface="Rubik One"/>
                <a:cs typeface="Rubik One"/>
                <a:sym typeface="Rubik One"/>
              </a:rPr>
              <a:t>HASIL SINT</a:t>
            </a:r>
            <a:r>
              <a:rPr lang="en-US" sz="7500">
                <a:solidFill>
                  <a:srgbClr val="000000"/>
                </a:solidFill>
                <a:latin typeface="Rubik One"/>
                <a:ea typeface="Rubik One"/>
                <a:cs typeface="Rubik One"/>
                <a:sym typeface="Rubik One"/>
              </a:rPr>
              <a:t>ESIS</a:t>
            </a:r>
          </a:p>
        </p:txBody>
      </p:sp>
      <p:sp>
        <p:nvSpPr>
          <p:cNvPr name="TextBox 12" id="12"/>
          <p:cNvSpPr txBox="true"/>
          <p:nvPr/>
        </p:nvSpPr>
        <p:spPr>
          <a:xfrm rot="0">
            <a:off x="769087" y="6199502"/>
            <a:ext cx="6549279" cy="2148403"/>
          </a:xfrm>
          <a:prstGeom prst="rect">
            <a:avLst/>
          </a:prstGeom>
        </p:spPr>
        <p:txBody>
          <a:bodyPr anchor="t" rtlCol="false" tIns="0" lIns="0" bIns="0" rIns="0">
            <a:spAutoFit/>
          </a:bodyPr>
          <a:lstStyle/>
          <a:p>
            <a:pPr algn="ctr">
              <a:lnSpc>
                <a:spcPts val="4297"/>
              </a:lnSpc>
            </a:pPr>
            <a:r>
              <a:rPr lang="en-US" sz="3581" b="true">
                <a:solidFill>
                  <a:srgbClr val="000000"/>
                </a:solidFill>
                <a:latin typeface="Be Vietnam Ultra-Bold"/>
                <a:ea typeface="Be Vietnam Ultra-Bold"/>
                <a:cs typeface="Be Vietnam Ultra-Bold"/>
                <a:sym typeface="Be Vietnam Ultra-Bold"/>
              </a:rPr>
              <a:t>S</a:t>
            </a:r>
            <a:r>
              <a:rPr lang="en-US" sz="3581" b="true">
                <a:solidFill>
                  <a:srgbClr val="000000"/>
                </a:solidFill>
                <a:latin typeface="Be Vietnam Ultra-Bold"/>
                <a:ea typeface="Be Vietnam Ultra-Bold"/>
                <a:cs typeface="Be Vietnam Ultra-Bold"/>
                <a:sym typeface="Be Vietnam Ultra-Bold"/>
              </a:rPr>
              <a:t>eluruh file VHDL berhasil di-compile di Quartus Prime tanpa error.</a:t>
            </a:r>
          </a:p>
          <a:p>
            <a:pPr algn="ctr">
              <a:lnSpc>
                <a:spcPts val="4297"/>
              </a:lnSpc>
            </a:pPr>
          </a:p>
        </p:txBody>
      </p:sp>
      <p:sp>
        <p:nvSpPr>
          <p:cNvPr name="TextBox 13" id="13"/>
          <p:cNvSpPr txBox="true"/>
          <p:nvPr/>
        </p:nvSpPr>
        <p:spPr>
          <a:xfrm rot="0">
            <a:off x="9144000" y="6199502"/>
            <a:ext cx="8788992" cy="2148403"/>
          </a:xfrm>
          <a:prstGeom prst="rect">
            <a:avLst/>
          </a:prstGeom>
        </p:spPr>
        <p:txBody>
          <a:bodyPr anchor="t" rtlCol="false" tIns="0" lIns="0" bIns="0" rIns="0">
            <a:spAutoFit/>
          </a:bodyPr>
          <a:lstStyle/>
          <a:p>
            <a:pPr algn="ctr">
              <a:lnSpc>
                <a:spcPts val="4297"/>
              </a:lnSpc>
            </a:pPr>
            <a:r>
              <a:rPr lang="en-US" sz="3581" b="true">
                <a:solidFill>
                  <a:srgbClr val="000000"/>
                </a:solidFill>
                <a:latin typeface="Be Vietnam Ultra-Bold"/>
                <a:ea typeface="Be Vietnam Ultra-Bold"/>
                <a:cs typeface="Be Vietnam Ultra-Bold"/>
                <a:sym typeface="Be Vietnam Ultra-Bold"/>
              </a:rPr>
              <a:t>RTL</a:t>
            </a:r>
            <a:r>
              <a:rPr lang="en-US" sz="3581" b="true">
                <a:solidFill>
                  <a:srgbClr val="000000"/>
                </a:solidFill>
                <a:latin typeface="Be Vietnam Ultra-Bold"/>
                <a:ea typeface="Be Vietnam Ultra-Bold"/>
                <a:cs typeface="Be Vietnam Ultra-Bold"/>
                <a:sym typeface="Be Vietnam Ultra-Bold"/>
              </a:rPr>
              <a:t> memperlihatkan koneksi antar modul sudah sesuai dengan rancangan sistem pada level logika.</a:t>
            </a:r>
          </a:p>
          <a:p>
            <a:pPr algn="ctr">
              <a:lnSpc>
                <a:spcPts val="4297"/>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65624" y="8347905"/>
            <a:ext cx="22019248" cy="3154524"/>
            <a:chOff x="0" y="0"/>
            <a:chExt cx="5799308" cy="830821"/>
          </a:xfrm>
        </p:grpSpPr>
        <p:sp>
          <p:nvSpPr>
            <p:cNvPr name="Freeform 3" id="3"/>
            <p:cNvSpPr/>
            <p:nvPr/>
          </p:nvSpPr>
          <p:spPr>
            <a:xfrm flipH="false" flipV="false" rot="0">
              <a:off x="0" y="0"/>
              <a:ext cx="5799308" cy="830821"/>
            </a:xfrm>
            <a:custGeom>
              <a:avLst/>
              <a:gdLst/>
              <a:ahLst/>
              <a:cxnLst/>
              <a:rect r="r" b="b" t="t" l="l"/>
              <a:pathLst>
                <a:path h="830821" w="5799308">
                  <a:moveTo>
                    <a:pt x="0" y="0"/>
                  </a:moveTo>
                  <a:lnTo>
                    <a:pt x="5799308" y="0"/>
                  </a:lnTo>
                  <a:lnTo>
                    <a:pt x="5799308" y="830821"/>
                  </a:lnTo>
                  <a:lnTo>
                    <a:pt x="0" y="830821"/>
                  </a:lnTo>
                  <a:close/>
                </a:path>
              </a:pathLst>
            </a:custGeom>
            <a:solidFill>
              <a:srgbClr val="5FA8C7"/>
            </a:solidFill>
          </p:spPr>
        </p:sp>
        <p:sp>
          <p:nvSpPr>
            <p:cNvPr name="TextBox 4" id="4"/>
            <p:cNvSpPr txBox="true"/>
            <p:nvPr/>
          </p:nvSpPr>
          <p:spPr>
            <a:xfrm>
              <a:off x="0" y="-38100"/>
              <a:ext cx="5799308" cy="86892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180352"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215336"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true" rot="0">
            <a:off x="15839103"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2448897"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57324" y="2252272"/>
            <a:ext cx="6728812" cy="3608325"/>
          </a:xfrm>
          <a:custGeom>
            <a:avLst/>
            <a:gdLst/>
            <a:ahLst/>
            <a:cxnLst/>
            <a:rect r="r" b="b" t="t" l="l"/>
            <a:pathLst>
              <a:path h="3608325" w="6728812">
                <a:moveTo>
                  <a:pt x="0" y="0"/>
                </a:moveTo>
                <a:lnTo>
                  <a:pt x="6728812" y="0"/>
                </a:lnTo>
                <a:lnTo>
                  <a:pt x="6728812" y="3608326"/>
                </a:lnTo>
                <a:lnTo>
                  <a:pt x="0" y="3608326"/>
                </a:lnTo>
                <a:lnTo>
                  <a:pt x="0" y="0"/>
                </a:lnTo>
                <a:close/>
              </a:path>
            </a:pathLst>
          </a:custGeom>
          <a:blipFill>
            <a:blip r:embed="rId6"/>
            <a:stretch>
              <a:fillRect l="0" t="0" r="0" b="0"/>
            </a:stretch>
          </a:blipFill>
        </p:spPr>
      </p:sp>
      <p:sp>
        <p:nvSpPr>
          <p:cNvPr name="Freeform 10" id="10"/>
          <p:cNvSpPr/>
          <p:nvPr/>
        </p:nvSpPr>
        <p:spPr>
          <a:xfrm flipH="false" flipV="false" rot="0">
            <a:off x="11341029" y="2252272"/>
            <a:ext cx="5104960" cy="3608325"/>
          </a:xfrm>
          <a:custGeom>
            <a:avLst/>
            <a:gdLst/>
            <a:ahLst/>
            <a:cxnLst/>
            <a:rect r="r" b="b" t="t" l="l"/>
            <a:pathLst>
              <a:path h="3608325" w="5104960">
                <a:moveTo>
                  <a:pt x="0" y="0"/>
                </a:moveTo>
                <a:lnTo>
                  <a:pt x="5104960" y="0"/>
                </a:lnTo>
                <a:lnTo>
                  <a:pt x="5104960" y="3608326"/>
                </a:lnTo>
                <a:lnTo>
                  <a:pt x="0" y="3608326"/>
                </a:lnTo>
                <a:lnTo>
                  <a:pt x="0" y="0"/>
                </a:lnTo>
                <a:close/>
              </a:path>
            </a:pathLst>
          </a:custGeom>
          <a:blipFill>
            <a:blip r:embed="rId7"/>
            <a:stretch>
              <a:fillRect l="0" t="0" r="0" b="0"/>
            </a:stretch>
          </a:blipFill>
        </p:spPr>
      </p:sp>
      <p:sp>
        <p:nvSpPr>
          <p:cNvPr name="TextBox 11" id="11"/>
          <p:cNvSpPr txBox="true"/>
          <p:nvPr/>
        </p:nvSpPr>
        <p:spPr>
          <a:xfrm rot="0">
            <a:off x="2545388" y="899379"/>
            <a:ext cx="13197223" cy="1076325"/>
          </a:xfrm>
          <a:prstGeom prst="rect">
            <a:avLst/>
          </a:prstGeom>
        </p:spPr>
        <p:txBody>
          <a:bodyPr anchor="t" rtlCol="false" tIns="0" lIns="0" bIns="0" rIns="0">
            <a:spAutoFit/>
          </a:bodyPr>
          <a:lstStyle/>
          <a:p>
            <a:pPr algn="ctr">
              <a:lnSpc>
                <a:spcPts val="8250"/>
              </a:lnSpc>
            </a:pPr>
            <a:r>
              <a:rPr lang="en-US" sz="7500">
                <a:solidFill>
                  <a:srgbClr val="000000"/>
                </a:solidFill>
                <a:latin typeface="Rubik One"/>
                <a:ea typeface="Rubik One"/>
                <a:cs typeface="Rubik One"/>
                <a:sym typeface="Rubik One"/>
              </a:rPr>
              <a:t>HASIL SIMULA</a:t>
            </a:r>
            <a:r>
              <a:rPr lang="en-US" sz="7500">
                <a:solidFill>
                  <a:srgbClr val="000000"/>
                </a:solidFill>
                <a:latin typeface="Rubik One"/>
                <a:ea typeface="Rubik One"/>
                <a:cs typeface="Rubik One"/>
                <a:sym typeface="Rubik One"/>
              </a:rPr>
              <a:t>SI</a:t>
            </a:r>
          </a:p>
        </p:txBody>
      </p:sp>
      <p:sp>
        <p:nvSpPr>
          <p:cNvPr name="TextBox 12" id="12"/>
          <p:cNvSpPr txBox="true"/>
          <p:nvPr/>
        </p:nvSpPr>
        <p:spPr>
          <a:xfrm rot="0">
            <a:off x="1836857" y="6137166"/>
            <a:ext cx="6549279" cy="2148403"/>
          </a:xfrm>
          <a:prstGeom prst="rect">
            <a:avLst/>
          </a:prstGeom>
        </p:spPr>
        <p:txBody>
          <a:bodyPr anchor="t" rtlCol="false" tIns="0" lIns="0" bIns="0" rIns="0">
            <a:spAutoFit/>
          </a:bodyPr>
          <a:lstStyle/>
          <a:p>
            <a:pPr algn="ctr">
              <a:lnSpc>
                <a:spcPts val="4297"/>
              </a:lnSpc>
            </a:pPr>
            <a:r>
              <a:rPr lang="en-US" sz="3581" b="true">
                <a:solidFill>
                  <a:srgbClr val="000000"/>
                </a:solidFill>
                <a:latin typeface="Be Vietnam Ultra-Bold"/>
                <a:ea typeface="Be Vietnam Ultra-Bold"/>
                <a:cs typeface="Be Vietnam Ultra-Bold"/>
                <a:sym typeface="Be Vietnam Ultra-Bold"/>
              </a:rPr>
              <a:t>Wav</a:t>
            </a:r>
            <a:r>
              <a:rPr lang="en-US" sz="3581" b="true">
                <a:solidFill>
                  <a:srgbClr val="000000"/>
                </a:solidFill>
                <a:latin typeface="Be Vietnam Ultra-Bold"/>
                <a:ea typeface="Be Vietnam Ultra-Bold"/>
                <a:cs typeface="Be Vietnam Ultra-Bold"/>
                <a:sym typeface="Be Vietnam Ultra-Bold"/>
              </a:rPr>
              <a:t>eform dari ModelSim menunjukkan perubahan state FSM yang mengikuti alur desain.</a:t>
            </a:r>
          </a:p>
        </p:txBody>
      </p:sp>
      <p:sp>
        <p:nvSpPr>
          <p:cNvPr name="TextBox 13" id="13"/>
          <p:cNvSpPr txBox="true"/>
          <p:nvPr/>
        </p:nvSpPr>
        <p:spPr>
          <a:xfrm rot="0">
            <a:off x="10527718" y="6137166"/>
            <a:ext cx="6731582" cy="2148403"/>
          </a:xfrm>
          <a:prstGeom prst="rect">
            <a:avLst/>
          </a:prstGeom>
        </p:spPr>
        <p:txBody>
          <a:bodyPr anchor="t" rtlCol="false" tIns="0" lIns="0" bIns="0" rIns="0">
            <a:spAutoFit/>
          </a:bodyPr>
          <a:lstStyle/>
          <a:p>
            <a:pPr algn="ctr">
              <a:lnSpc>
                <a:spcPts val="4297"/>
              </a:lnSpc>
            </a:pPr>
            <a:r>
              <a:rPr lang="en-US" sz="3581" b="true">
                <a:solidFill>
                  <a:srgbClr val="000000"/>
                </a:solidFill>
                <a:latin typeface="Be Vietnam Ultra-Bold"/>
                <a:ea typeface="Be Vietnam Ultra-Bold"/>
                <a:cs typeface="Be Vietnam Ultra-Bold"/>
                <a:sym typeface="Be Vietnam Ultra-Bold"/>
              </a:rPr>
              <a:t>Log simulasi</a:t>
            </a:r>
            <a:r>
              <a:rPr lang="en-US" sz="3581" b="true">
                <a:solidFill>
                  <a:srgbClr val="000000"/>
                </a:solidFill>
                <a:latin typeface="Be Vietnam Ultra-Bold"/>
                <a:ea typeface="Be Vietnam Ultra-Bold"/>
                <a:cs typeface="Be Vietnam Ultra-Bold"/>
                <a:sym typeface="Be Vietnam Ultra-Bold"/>
              </a:rPr>
              <a:t> menampilkan pesan bahwa seluruh skenario pengujian berhasil.</a:t>
            </a:r>
          </a:p>
          <a:p>
            <a:pPr algn="ctr">
              <a:lnSpc>
                <a:spcPts val="4297"/>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65624" y="8347905"/>
            <a:ext cx="22019248" cy="3154524"/>
            <a:chOff x="0" y="0"/>
            <a:chExt cx="5799308" cy="830821"/>
          </a:xfrm>
        </p:grpSpPr>
        <p:sp>
          <p:nvSpPr>
            <p:cNvPr name="Freeform 3" id="3"/>
            <p:cNvSpPr/>
            <p:nvPr/>
          </p:nvSpPr>
          <p:spPr>
            <a:xfrm flipH="false" flipV="false" rot="0">
              <a:off x="0" y="0"/>
              <a:ext cx="5799308" cy="830821"/>
            </a:xfrm>
            <a:custGeom>
              <a:avLst/>
              <a:gdLst/>
              <a:ahLst/>
              <a:cxnLst/>
              <a:rect r="r" b="b" t="t" l="l"/>
              <a:pathLst>
                <a:path h="830821" w="5799308">
                  <a:moveTo>
                    <a:pt x="0" y="0"/>
                  </a:moveTo>
                  <a:lnTo>
                    <a:pt x="5799308" y="0"/>
                  </a:lnTo>
                  <a:lnTo>
                    <a:pt x="5799308" y="830821"/>
                  </a:lnTo>
                  <a:lnTo>
                    <a:pt x="0" y="830821"/>
                  </a:lnTo>
                  <a:close/>
                </a:path>
              </a:pathLst>
            </a:custGeom>
            <a:solidFill>
              <a:srgbClr val="5FA8C7"/>
            </a:solidFill>
          </p:spPr>
        </p:sp>
        <p:sp>
          <p:nvSpPr>
            <p:cNvPr name="TextBox 4" id="4"/>
            <p:cNvSpPr txBox="true"/>
            <p:nvPr/>
          </p:nvSpPr>
          <p:spPr>
            <a:xfrm>
              <a:off x="0" y="-38100"/>
              <a:ext cx="5799308" cy="86892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180352"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215336" y="1078273"/>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545388" y="899379"/>
            <a:ext cx="13197223" cy="1076325"/>
          </a:xfrm>
          <a:prstGeom prst="rect">
            <a:avLst/>
          </a:prstGeom>
        </p:spPr>
        <p:txBody>
          <a:bodyPr anchor="t" rtlCol="false" tIns="0" lIns="0" bIns="0" rIns="0">
            <a:spAutoFit/>
          </a:bodyPr>
          <a:lstStyle/>
          <a:p>
            <a:pPr algn="ctr">
              <a:lnSpc>
                <a:spcPts val="8250"/>
              </a:lnSpc>
            </a:pPr>
            <a:r>
              <a:rPr lang="en-US" sz="7500">
                <a:solidFill>
                  <a:srgbClr val="000000"/>
                </a:solidFill>
                <a:latin typeface="Rubik One"/>
                <a:ea typeface="Rubik One"/>
                <a:cs typeface="Rubik One"/>
                <a:sym typeface="Rubik One"/>
              </a:rPr>
              <a:t>ANALISIS SISTEM</a:t>
            </a:r>
          </a:p>
        </p:txBody>
      </p:sp>
      <p:sp>
        <p:nvSpPr>
          <p:cNvPr name="Freeform 8" id="8"/>
          <p:cNvSpPr/>
          <p:nvPr/>
        </p:nvSpPr>
        <p:spPr>
          <a:xfrm flipH="false" flipV="true" rot="0">
            <a:off x="15839103"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2448897"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881450" y="2260657"/>
            <a:ext cx="14324181" cy="1932787"/>
            <a:chOff x="0" y="0"/>
            <a:chExt cx="4458130" cy="601543"/>
          </a:xfrm>
        </p:grpSpPr>
        <p:sp>
          <p:nvSpPr>
            <p:cNvPr name="Freeform 11" id="11"/>
            <p:cNvSpPr/>
            <p:nvPr/>
          </p:nvSpPr>
          <p:spPr>
            <a:xfrm flipH="false" flipV="false" rot="0">
              <a:off x="0" y="0"/>
              <a:ext cx="4458130" cy="601543"/>
            </a:xfrm>
            <a:custGeom>
              <a:avLst/>
              <a:gdLst/>
              <a:ahLst/>
              <a:cxnLst/>
              <a:rect r="r" b="b" t="t" l="l"/>
              <a:pathLst>
                <a:path h="601543" w="4458130">
                  <a:moveTo>
                    <a:pt x="21619" y="0"/>
                  </a:moveTo>
                  <a:lnTo>
                    <a:pt x="4436511" y="0"/>
                  </a:lnTo>
                  <a:cubicBezTo>
                    <a:pt x="4448451" y="0"/>
                    <a:pt x="4458130" y="9679"/>
                    <a:pt x="4458130" y="21619"/>
                  </a:cubicBezTo>
                  <a:lnTo>
                    <a:pt x="4458130" y="579924"/>
                  </a:lnTo>
                  <a:cubicBezTo>
                    <a:pt x="4458130" y="585658"/>
                    <a:pt x="4455852" y="591157"/>
                    <a:pt x="4451798" y="595211"/>
                  </a:cubicBezTo>
                  <a:cubicBezTo>
                    <a:pt x="4447743" y="599266"/>
                    <a:pt x="4442244" y="601543"/>
                    <a:pt x="4436511" y="601543"/>
                  </a:cubicBezTo>
                  <a:lnTo>
                    <a:pt x="21619" y="601543"/>
                  </a:lnTo>
                  <a:cubicBezTo>
                    <a:pt x="9679" y="601543"/>
                    <a:pt x="0" y="591864"/>
                    <a:pt x="0" y="579924"/>
                  </a:cubicBezTo>
                  <a:lnTo>
                    <a:pt x="0" y="21619"/>
                  </a:lnTo>
                  <a:cubicBezTo>
                    <a:pt x="0" y="9679"/>
                    <a:pt x="9679" y="0"/>
                    <a:pt x="21619" y="0"/>
                  </a:cubicBezTo>
                  <a:close/>
                </a:path>
              </a:pathLst>
            </a:custGeom>
            <a:solidFill>
              <a:srgbClr val="8DC8A3"/>
            </a:solidFill>
          </p:spPr>
        </p:sp>
        <p:sp>
          <p:nvSpPr>
            <p:cNvPr name="TextBox 12" id="12"/>
            <p:cNvSpPr txBox="true"/>
            <p:nvPr/>
          </p:nvSpPr>
          <p:spPr>
            <a:xfrm>
              <a:off x="0" y="-38100"/>
              <a:ext cx="4458130" cy="639643"/>
            </a:xfrm>
            <a:prstGeom prst="rect">
              <a:avLst/>
            </a:prstGeom>
          </p:spPr>
          <p:txBody>
            <a:bodyPr anchor="ctr" rtlCol="false" tIns="42989" lIns="42989" bIns="42989" rIns="42989"/>
            <a:lstStyle/>
            <a:p>
              <a:pPr algn="ctr">
                <a:lnSpc>
                  <a:spcPts val="2660"/>
                </a:lnSpc>
              </a:pPr>
            </a:p>
          </p:txBody>
        </p:sp>
      </p:grpSp>
      <p:grpSp>
        <p:nvGrpSpPr>
          <p:cNvPr name="Group 13" id="13"/>
          <p:cNvGrpSpPr/>
          <p:nvPr/>
        </p:nvGrpSpPr>
        <p:grpSpPr>
          <a:xfrm rot="0">
            <a:off x="1469643" y="2815243"/>
            <a:ext cx="823615" cy="8236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15" id="15"/>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16" id="16"/>
          <p:cNvSpPr txBox="true"/>
          <p:nvPr/>
        </p:nvSpPr>
        <p:spPr>
          <a:xfrm rot="0">
            <a:off x="2448897" y="2730261"/>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Fungsi Autentikasi: looping</a:t>
            </a:r>
            <a:r>
              <a:rPr lang="en-US" sz="3052" b="true">
                <a:solidFill>
                  <a:srgbClr val="000000"/>
                </a:solidFill>
                <a:latin typeface="Be Vietnam Ultra-Bold"/>
                <a:ea typeface="Be Vietnam Ultra-Bold"/>
                <a:cs typeface="Be Vietnam Ultra-Bold"/>
                <a:sym typeface="Be Vietnam Ultra-Bold"/>
              </a:rPr>
              <a:t> di hardware dapat membedakan antara PIN benar dan salah dengan jelas.</a:t>
            </a:r>
          </a:p>
          <a:p>
            <a:pPr algn="just">
              <a:lnSpc>
                <a:spcPts val="4274"/>
              </a:lnSpc>
            </a:pPr>
          </a:p>
        </p:txBody>
      </p:sp>
      <p:sp>
        <p:nvSpPr>
          <p:cNvPr name="TextBox 17" id="17"/>
          <p:cNvSpPr txBox="true"/>
          <p:nvPr/>
        </p:nvSpPr>
        <p:spPr>
          <a:xfrm rot="0">
            <a:off x="1495259" y="2960199"/>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1</a:t>
            </a:r>
          </a:p>
        </p:txBody>
      </p:sp>
      <p:grpSp>
        <p:nvGrpSpPr>
          <p:cNvPr name="Group 18" id="18"/>
          <p:cNvGrpSpPr/>
          <p:nvPr/>
        </p:nvGrpSpPr>
        <p:grpSpPr>
          <a:xfrm rot="0">
            <a:off x="1881450" y="4304504"/>
            <a:ext cx="14324181" cy="1932787"/>
            <a:chOff x="0" y="0"/>
            <a:chExt cx="4458130" cy="601543"/>
          </a:xfrm>
        </p:grpSpPr>
        <p:sp>
          <p:nvSpPr>
            <p:cNvPr name="Freeform 19" id="19"/>
            <p:cNvSpPr/>
            <p:nvPr/>
          </p:nvSpPr>
          <p:spPr>
            <a:xfrm flipH="false" flipV="false" rot="0">
              <a:off x="0" y="0"/>
              <a:ext cx="4458130" cy="601543"/>
            </a:xfrm>
            <a:custGeom>
              <a:avLst/>
              <a:gdLst/>
              <a:ahLst/>
              <a:cxnLst/>
              <a:rect r="r" b="b" t="t" l="l"/>
              <a:pathLst>
                <a:path h="601543" w="4458130">
                  <a:moveTo>
                    <a:pt x="21619" y="0"/>
                  </a:moveTo>
                  <a:lnTo>
                    <a:pt x="4436511" y="0"/>
                  </a:lnTo>
                  <a:cubicBezTo>
                    <a:pt x="4448451" y="0"/>
                    <a:pt x="4458130" y="9679"/>
                    <a:pt x="4458130" y="21619"/>
                  </a:cubicBezTo>
                  <a:lnTo>
                    <a:pt x="4458130" y="579924"/>
                  </a:lnTo>
                  <a:cubicBezTo>
                    <a:pt x="4458130" y="585658"/>
                    <a:pt x="4455852" y="591157"/>
                    <a:pt x="4451798" y="595211"/>
                  </a:cubicBezTo>
                  <a:cubicBezTo>
                    <a:pt x="4447743" y="599266"/>
                    <a:pt x="4442244" y="601543"/>
                    <a:pt x="4436511" y="601543"/>
                  </a:cubicBezTo>
                  <a:lnTo>
                    <a:pt x="21619" y="601543"/>
                  </a:lnTo>
                  <a:cubicBezTo>
                    <a:pt x="9679" y="601543"/>
                    <a:pt x="0" y="591864"/>
                    <a:pt x="0" y="579924"/>
                  </a:cubicBezTo>
                  <a:lnTo>
                    <a:pt x="0" y="21619"/>
                  </a:lnTo>
                  <a:cubicBezTo>
                    <a:pt x="0" y="9679"/>
                    <a:pt x="9679" y="0"/>
                    <a:pt x="21619" y="0"/>
                  </a:cubicBezTo>
                  <a:close/>
                </a:path>
              </a:pathLst>
            </a:custGeom>
            <a:solidFill>
              <a:srgbClr val="8DC8A3"/>
            </a:solidFill>
          </p:spPr>
        </p:sp>
        <p:sp>
          <p:nvSpPr>
            <p:cNvPr name="TextBox 20" id="20"/>
            <p:cNvSpPr txBox="true"/>
            <p:nvPr/>
          </p:nvSpPr>
          <p:spPr>
            <a:xfrm>
              <a:off x="0" y="-38100"/>
              <a:ext cx="4458130" cy="639643"/>
            </a:xfrm>
            <a:prstGeom prst="rect">
              <a:avLst/>
            </a:prstGeom>
          </p:spPr>
          <p:txBody>
            <a:bodyPr anchor="ctr" rtlCol="false" tIns="42989" lIns="42989" bIns="42989" rIns="42989"/>
            <a:lstStyle/>
            <a:p>
              <a:pPr algn="ctr">
                <a:lnSpc>
                  <a:spcPts val="2660"/>
                </a:lnSpc>
              </a:pPr>
            </a:p>
          </p:txBody>
        </p:sp>
      </p:grpSp>
      <p:grpSp>
        <p:nvGrpSpPr>
          <p:cNvPr name="Group 21" id="21"/>
          <p:cNvGrpSpPr/>
          <p:nvPr/>
        </p:nvGrpSpPr>
        <p:grpSpPr>
          <a:xfrm rot="0">
            <a:off x="1469643" y="4859091"/>
            <a:ext cx="823615" cy="82361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23" id="23"/>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24" id="24"/>
          <p:cNvSpPr txBox="true"/>
          <p:nvPr/>
        </p:nvSpPr>
        <p:spPr>
          <a:xfrm rot="0">
            <a:off x="2448897" y="4774108"/>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Pengelolaan Saldo: integ</a:t>
            </a:r>
            <a:r>
              <a:rPr lang="en-US" sz="3052" b="true">
                <a:solidFill>
                  <a:srgbClr val="000000"/>
                </a:solidFill>
                <a:latin typeface="Be Vietnam Ultra-Bold"/>
                <a:ea typeface="Be Vietnam Ultra-Bold"/>
                <a:cs typeface="Be Vietnam Ultra-Bold"/>
                <a:sym typeface="Be Vietnam Ultra-Bold"/>
              </a:rPr>
              <a:t>rasi RAM dan fungsi aritmetika menghasilkan saldo akhir yang sesuai spesifikasi.</a:t>
            </a:r>
          </a:p>
          <a:p>
            <a:pPr algn="just">
              <a:lnSpc>
                <a:spcPts val="4274"/>
              </a:lnSpc>
            </a:pPr>
          </a:p>
        </p:txBody>
      </p:sp>
      <p:sp>
        <p:nvSpPr>
          <p:cNvPr name="TextBox 25" id="25"/>
          <p:cNvSpPr txBox="true"/>
          <p:nvPr/>
        </p:nvSpPr>
        <p:spPr>
          <a:xfrm rot="0">
            <a:off x="1495259" y="5004047"/>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2</a:t>
            </a:r>
          </a:p>
        </p:txBody>
      </p:sp>
      <p:grpSp>
        <p:nvGrpSpPr>
          <p:cNvPr name="Group 26" id="26"/>
          <p:cNvGrpSpPr/>
          <p:nvPr/>
        </p:nvGrpSpPr>
        <p:grpSpPr>
          <a:xfrm rot="0">
            <a:off x="1881450" y="6348351"/>
            <a:ext cx="14324181" cy="1932787"/>
            <a:chOff x="0" y="0"/>
            <a:chExt cx="4458130" cy="601543"/>
          </a:xfrm>
        </p:grpSpPr>
        <p:sp>
          <p:nvSpPr>
            <p:cNvPr name="Freeform 27" id="27"/>
            <p:cNvSpPr/>
            <p:nvPr/>
          </p:nvSpPr>
          <p:spPr>
            <a:xfrm flipH="false" flipV="false" rot="0">
              <a:off x="0" y="0"/>
              <a:ext cx="4458130" cy="601543"/>
            </a:xfrm>
            <a:custGeom>
              <a:avLst/>
              <a:gdLst/>
              <a:ahLst/>
              <a:cxnLst/>
              <a:rect r="r" b="b" t="t" l="l"/>
              <a:pathLst>
                <a:path h="601543" w="4458130">
                  <a:moveTo>
                    <a:pt x="21619" y="0"/>
                  </a:moveTo>
                  <a:lnTo>
                    <a:pt x="4436511" y="0"/>
                  </a:lnTo>
                  <a:cubicBezTo>
                    <a:pt x="4448451" y="0"/>
                    <a:pt x="4458130" y="9679"/>
                    <a:pt x="4458130" y="21619"/>
                  </a:cubicBezTo>
                  <a:lnTo>
                    <a:pt x="4458130" y="579924"/>
                  </a:lnTo>
                  <a:cubicBezTo>
                    <a:pt x="4458130" y="585658"/>
                    <a:pt x="4455852" y="591157"/>
                    <a:pt x="4451798" y="595211"/>
                  </a:cubicBezTo>
                  <a:cubicBezTo>
                    <a:pt x="4447743" y="599266"/>
                    <a:pt x="4442244" y="601543"/>
                    <a:pt x="4436511" y="601543"/>
                  </a:cubicBezTo>
                  <a:lnTo>
                    <a:pt x="21619" y="601543"/>
                  </a:lnTo>
                  <a:cubicBezTo>
                    <a:pt x="9679" y="601543"/>
                    <a:pt x="0" y="591864"/>
                    <a:pt x="0" y="579924"/>
                  </a:cubicBezTo>
                  <a:lnTo>
                    <a:pt x="0" y="21619"/>
                  </a:lnTo>
                  <a:cubicBezTo>
                    <a:pt x="0" y="9679"/>
                    <a:pt x="9679" y="0"/>
                    <a:pt x="21619" y="0"/>
                  </a:cubicBezTo>
                  <a:close/>
                </a:path>
              </a:pathLst>
            </a:custGeom>
            <a:solidFill>
              <a:srgbClr val="8DC8A3"/>
            </a:solidFill>
          </p:spPr>
        </p:sp>
        <p:sp>
          <p:nvSpPr>
            <p:cNvPr name="TextBox 28" id="28"/>
            <p:cNvSpPr txBox="true"/>
            <p:nvPr/>
          </p:nvSpPr>
          <p:spPr>
            <a:xfrm>
              <a:off x="0" y="-38100"/>
              <a:ext cx="4458130" cy="639643"/>
            </a:xfrm>
            <a:prstGeom prst="rect">
              <a:avLst/>
            </a:prstGeom>
          </p:spPr>
          <p:txBody>
            <a:bodyPr anchor="ctr" rtlCol="false" tIns="42989" lIns="42989" bIns="42989" rIns="42989"/>
            <a:lstStyle/>
            <a:p>
              <a:pPr algn="ctr">
                <a:lnSpc>
                  <a:spcPts val="2660"/>
                </a:lnSpc>
              </a:pPr>
            </a:p>
          </p:txBody>
        </p:sp>
      </p:grpSp>
      <p:grpSp>
        <p:nvGrpSpPr>
          <p:cNvPr name="Group 29" id="29"/>
          <p:cNvGrpSpPr/>
          <p:nvPr/>
        </p:nvGrpSpPr>
        <p:grpSpPr>
          <a:xfrm rot="0">
            <a:off x="1469643" y="6902938"/>
            <a:ext cx="823615" cy="823615"/>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3F57"/>
            </a:solidFill>
          </p:spPr>
        </p:sp>
        <p:sp>
          <p:nvSpPr>
            <p:cNvPr name="TextBox 31" id="31"/>
            <p:cNvSpPr txBox="true"/>
            <p:nvPr/>
          </p:nvSpPr>
          <p:spPr>
            <a:xfrm>
              <a:off x="76200" y="38100"/>
              <a:ext cx="660400" cy="698500"/>
            </a:xfrm>
            <a:prstGeom prst="rect">
              <a:avLst/>
            </a:prstGeom>
          </p:spPr>
          <p:txBody>
            <a:bodyPr anchor="ctr" rtlCol="false" tIns="42989" lIns="42989" bIns="42989" rIns="42989"/>
            <a:lstStyle/>
            <a:p>
              <a:pPr algn="ctr">
                <a:lnSpc>
                  <a:spcPts val="2660"/>
                </a:lnSpc>
              </a:pPr>
            </a:p>
          </p:txBody>
        </p:sp>
      </p:grpSp>
      <p:sp>
        <p:nvSpPr>
          <p:cNvPr name="TextBox 32" id="32"/>
          <p:cNvSpPr txBox="true"/>
          <p:nvPr/>
        </p:nvSpPr>
        <p:spPr>
          <a:xfrm rot="0">
            <a:off x="2448897" y="6817955"/>
            <a:ext cx="13293715" cy="1574243"/>
          </a:xfrm>
          <a:prstGeom prst="rect">
            <a:avLst/>
          </a:prstGeom>
        </p:spPr>
        <p:txBody>
          <a:bodyPr anchor="t" rtlCol="false" tIns="0" lIns="0" bIns="0" rIns="0">
            <a:spAutoFit/>
          </a:bodyPr>
          <a:lstStyle/>
          <a:p>
            <a:pPr algn="l">
              <a:lnSpc>
                <a:spcPts val="4274"/>
              </a:lnSpc>
            </a:pPr>
            <a:r>
              <a:rPr lang="en-US" sz="3052" b="true">
                <a:solidFill>
                  <a:srgbClr val="000000"/>
                </a:solidFill>
                <a:latin typeface="Be Vietnam Ultra-Bold"/>
                <a:ea typeface="Be Vietnam Ultra-Bold"/>
                <a:cs typeface="Be Vietnam Ultra-Bold"/>
                <a:sym typeface="Be Vietnam Ultra-Bold"/>
              </a:rPr>
              <a:t>Microprogramming:</a:t>
            </a:r>
            <a:r>
              <a:rPr lang="en-US" sz="3052" b="true">
                <a:solidFill>
                  <a:srgbClr val="000000"/>
                </a:solidFill>
                <a:latin typeface="Be Vietnam Ultra-Bold"/>
                <a:ea typeface="Be Vietnam Ultra-Bold"/>
                <a:cs typeface="Be Vietnam Ultra-Bold"/>
                <a:sym typeface="Be Vietnam Ultra-Bold"/>
              </a:rPr>
              <a:t> perubahan perilaku output cukup dengan mengubah isi microcode di ROM, tanpa mengubah FSM.</a:t>
            </a:r>
          </a:p>
          <a:p>
            <a:pPr algn="just">
              <a:lnSpc>
                <a:spcPts val="4274"/>
              </a:lnSpc>
            </a:pPr>
          </a:p>
        </p:txBody>
      </p:sp>
      <p:sp>
        <p:nvSpPr>
          <p:cNvPr name="TextBox 33" id="33"/>
          <p:cNvSpPr txBox="true"/>
          <p:nvPr/>
        </p:nvSpPr>
        <p:spPr>
          <a:xfrm rot="0">
            <a:off x="1495259" y="7047894"/>
            <a:ext cx="756261" cy="604044"/>
          </a:xfrm>
          <a:prstGeom prst="rect">
            <a:avLst/>
          </a:prstGeom>
        </p:spPr>
        <p:txBody>
          <a:bodyPr anchor="t" rtlCol="false" tIns="0" lIns="0" bIns="0" rIns="0">
            <a:spAutoFit/>
          </a:bodyPr>
          <a:lstStyle/>
          <a:p>
            <a:pPr algn="ctr">
              <a:lnSpc>
                <a:spcPts val="4654"/>
              </a:lnSpc>
            </a:pPr>
            <a:r>
              <a:rPr lang="en-US" sz="4231">
                <a:solidFill>
                  <a:srgbClr val="CEF7EF"/>
                </a:solidFill>
                <a:latin typeface="Rubik One"/>
                <a:ea typeface="Rubik One"/>
                <a:cs typeface="Rubik One"/>
                <a:sym typeface="Rubik One"/>
              </a:rPr>
              <a:t>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true" rot="0">
            <a:off x="15920133" y="-1028174"/>
            <a:ext cx="3573631" cy="3203273"/>
          </a:xfrm>
          <a:custGeom>
            <a:avLst/>
            <a:gdLst/>
            <a:ahLst/>
            <a:cxnLst/>
            <a:rect r="r" b="b" t="t" l="l"/>
            <a:pathLst>
              <a:path h="3203273" w="3573631">
                <a:moveTo>
                  <a:pt x="3573631" y="3203272"/>
                </a:moveTo>
                <a:lnTo>
                  <a:pt x="0" y="3203272"/>
                </a:lnTo>
                <a:lnTo>
                  <a:pt x="0" y="0"/>
                </a:lnTo>
                <a:lnTo>
                  <a:pt x="3573631" y="0"/>
                </a:lnTo>
                <a:lnTo>
                  <a:pt x="3573631" y="320327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5764" y="8149159"/>
            <a:ext cx="3532066" cy="3166015"/>
          </a:xfrm>
          <a:custGeom>
            <a:avLst/>
            <a:gdLst/>
            <a:ahLst/>
            <a:cxnLst/>
            <a:rect r="r" b="b" t="t" l="l"/>
            <a:pathLst>
              <a:path h="3166015" w="3532066">
                <a:moveTo>
                  <a:pt x="0" y="0"/>
                </a:moveTo>
                <a:lnTo>
                  <a:pt x="3532066" y="0"/>
                </a:lnTo>
                <a:lnTo>
                  <a:pt x="3532066" y="3166015"/>
                </a:lnTo>
                <a:lnTo>
                  <a:pt x="0" y="3166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346034" y="3441936"/>
            <a:ext cx="13574099" cy="6350557"/>
            <a:chOff x="0" y="0"/>
            <a:chExt cx="3771187" cy="1764326"/>
          </a:xfrm>
        </p:grpSpPr>
        <p:sp>
          <p:nvSpPr>
            <p:cNvPr name="Freeform 5" id="5"/>
            <p:cNvSpPr/>
            <p:nvPr/>
          </p:nvSpPr>
          <p:spPr>
            <a:xfrm flipH="false" flipV="false" rot="0">
              <a:off x="0" y="0"/>
              <a:ext cx="3771187" cy="1764326"/>
            </a:xfrm>
            <a:custGeom>
              <a:avLst/>
              <a:gdLst/>
              <a:ahLst/>
              <a:cxnLst/>
              <a:rect r="r" b="b" t="t" l="l"/>
              <a:pathLst>
                <a:path h="1764326" w="3771187">
                  <a:moveTo>
                    <a:pt x="27377" y="0"/>
                  </a:moveTo>
                  <a:lnTo>
                    <a:pt x="3743811" y="0"/>
                  </a:lnTo>
                  <a:cubicBezTo>
                    <a:pt x="3758930" y="0"/>
                    <a:pt x="3771187" y="12257"/>
                    <a:pt x="3771187" y="27377"/>
                  </a:cubicBezTo>
                  <a:lnTo>
                    <a:pt x="3771187" y="1736950"/>
                  </a:lnTo>
                  <a:cubicBezTo>
                    <a:pt x="3771187" y="1752070"/>
                    <a:pt x="3758930" y="1764326"/>
                    <a:pt x="3743811" y="1764326"/>
                  </a:cubicBezTo>
                  <a:lnTo>
                    <a:pt x="27377" y="1764326"/>
                  </a:lnTo>
                  <a:cubicBezTo>
                    <a:pt x="12257" y="1764326"/>
                    <a:pt x="0" y="1752070"/>
                    <a:pt x="0" y="1736950"/>
                  </a:cubicBezTo>
                  <a:lnTo>
                    <a:pt x="0" y="27377"/>
                  </a:lnTo>
                  <a:cubicBezTo>
                    <a:pt x="0" y="12257"/>
                    <a:pt x="12257" y="0"/>
                    <a:pt x="27377" y="0"/>
                  </a:cubicBezTo>
                  <a:close/>
                </a:path>
              </a:pathLst>
            </a:custGeom>
            <a:solidFill>
              <a:srgbClr val="5FA8C7"/>
            </a:solidFill>
          </p:spPr>
        </p:sp>
        <p:sp>
          <p:nvSpPr>
            <p:cNvPr name="TextBox 6" id="6"/>
            <p:cNvSpPr txBox="true"/>
            <p:nvPr/>
          </p:nvSpPr>
          <p:spPr>
            <a:xfrm>
              <a:off x="0" y="-38100"/>
              <a:ext cx="3771187" cy="1802426"/>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753888" y="968339"/>
            <a:ext cx="8780224" cy="2473597"/>
          </a:xfrm>
          <a:prstGeom prst="rect">
            <a:avLst/>
          </a:prstGeom>
        </p:spPr>
        <p:txBody>
          <a:bodyPr anchor="t" rtlCol="false" tIns="0" lIns="0" bIns="0" rIns="0">
            <a:spAutoFit/>
          </a:bodyPr>
          <a:lstStyle/>
          <a:p>
            <a:pPr algn="ctr">
              <a:lnSpc>
                <a:spcPts val="9648"/>
              </a:lnSpc>
            </a:pPr>
            <a:r>
              <a:rPr lang="en-US" sz="8771">
                <a:solidFill>
                  <a:srgbClr val="000000"/>
                </a:solidFill>
                <a:latin typeface="Rubik One"/>
                <a:ea typeface="Rubik One"/>
                <a:cs typeface="Rubik One"/>
                <a:sym typeface="Rubik One"/>
              </a:rPr>
              <a:t>KESIMPULAN PRESENTASI</a:t>
            </a:r>
          </a:p>
        </p:txBody>
      </p:sp>
      <p:sp>
        <p:nvSpPr>
          <p:cNvPr name="TextBox 8" id="8"/>
          <p:cNvSpPr txBox="true"/>
          <p:nvPr/>
        </p:nvSpPr>
        <p:spPr>
          <a:xfrm rot="0">
            <a:off x="2658818" y="4172105"/>
            <a:ext cx="12970363" cy="4454098"/>
          </a:xfrm>
          <a:prstGeom prst="rect">
            <a:avLst/>
          </a:prstGeom>
        </p:spPr>
        <p:txBody>
          <a:bodyPr anchor="t" rtlCol="false" tIns="0" lIns="0" bIns="0" rIns="0">
            <a:spAutoFit/>
          </a:bodyPr>
          <a:lstStyle/>
          <a:p>
            <a:pPr algn="just" marL="644487" indent="-322244" lvl="1">
              <a:lnSpc>
                <a:spcPts val="3910"/>
              </a:lnSpc>
              <a:buFont typeface="Arial"/>
              <a:buChar char="•"/>
            </a:pPr>
            <a:r>
              <a:rPr lang="en-US" b="true" sz="2985">
                <a:solidFill>
                  <a:srgbClr val="000000"/>
                </a:solidFill>
                <a:latin typeface="Be Vietnam Ultra-Bold"/>
                <a:ea typeface="Be Vietnam Ultra-Bold"/>
                <a:cs typeface="Be Vietnam Ultra-Bold"/>
                <a:sym typeface="Be Vietnam Ultra-Bold"/>
              </a:rPr>
              <a:t>Proyek berhasil mengimplementasikan sistem ATM digital berbasis microcode dengan autentikasi PIN dan pemrosesan saldo di FPGA.</a:t>
            </a:r>
          </a:p>
          <a:p>
            <a:pPr algn="just" marL="644487" indent="-322244" lvl="1">
              <a:lnSpc>
                <a:spcPts val="3910"/>
              </a:lnSpc>
              <a:buFont typeface="Arial"/>
              <a:buChar char="•"/>
            </a:pPr>
            <a:r>
              <a:rPr lang="en-US" b="true" sz="2985">
                <a:solidFill>
                  <a:srgbClr val="000000"/>
                </a:solidFill>
                <a:latin typeface="Be Vietnam Ultra-Bold"/>
                <a:ea typeface="Be Vietnam Ultra-Bold"/>
                <a:cs typeface="Be Vietnam Ultra-Bold"/>
                <a:sym typeface="Be Vietnam Ultra-Bold"/>
              </a:rPr>
              <a:t>Berbagai konsep praktikum PSD seperti dataflow,</a:t>
            </a:r>
            <a:r>
              <a:rPr lang="en-US" b="true" sz="2985">
                <a:solidFill>
                  <a:srgbClr val="000000"/>
                </a:solidFill>
                <a:latin typeface="Be Vietnam Ultra-Bold"/>
                <a:ea typeface="Be Vietnam Ultra-Bold"/>
                <a:cs typeface="Be Vietnam Ultra-Bold"/>
                <a:sym typeface="Be Vietnam Ultra-Bold"/>
              </a:rPr>
              <a:t> behavioral, memory, function &amp; procedure, looping, microprogramming, dan testbench berhasil digabungkan dalam satu desain.</a:t>
            </a:r>
          </a:p>
          <a:p>
            <a:pPr algn="just" marL="644487" indent="-322244" lvl="1">
              <a:lnSpc>
                <a:spcPts val="3910"/>
              </a:lnSpc>
              <a:buFont typeface="Arial"/>
              <a:buChar char="•"/>
            </a:pPr>
            <a:r>
              <a:rPr lang="en-US" b="true" sz="2985">
                <a:solidFill>
                  <a:srgbClr val="000000"/>
                </a:solidFill>
                <a:latin typeface="Be Vietnam Ultra-Bold"/>
                <a:ea typeface="Be Vietnam Ultra-Bold"/>
                <a:cs typeface="Be Vietnam Ultra-Bold"/>
                <a:sym typeface="Be Vietnam Ultra-Bold"/>
              </a:rPr>
              <a:t>Hasil sintesis dan simulasi menunjukkan bahwa sistem bekerja sesuai spesifikasi dan bebas error pada level RTL.</a:t>
            </a:r>
          </a:p>
          <a:p>
            <a:pPr algn="just" marL="644487" indent="-322244" lvl="1">
              <a:lnSpc>
                <a:spcPts val="3910"/>
              </a:lnSpc>
              <a:buFont typeface="Arial"/>
              <a:buChar char="•"/>
            </a:pPr>
            <a:r>
              <a:rPr lang="en-US" b="true" sz="2985">
                <a:solidFill>
                  <a:srgbClr val="000000"/>
                </a:solidFill>
                <a:latin typeface="Be Vietnam Ultra-Bold"/>
                <a:ea typeface="Be Vietnam Ultra-Bold"/>
                <a:cs typeface="Be Vietnam Ultra-Bold"/>
                <a:sym typeface="Be Vietnam Ultra-Bold"/>
              </a:rPr>
              <a:t>Desain ini berpotensi menjadi dasar pengembangan sistem ATM yang lebih kompleks pada implementasi nyata di papan DE1-SoC.</a:t>
            </a:r>
          </a:p>
        </p:txBody>
      </p:sp>
      <p:sp>
        <p:nvSpPr>
          <p:cNvPr name="Freeform 9" id="9"/>
          <p:cNvSpPr/>
          <p:nvPr/>
        </p:nvSpPr>
        <p:spPr>
          <a:xfrm flipH="false" flipV="true" rot="0">
            <a:off x="15900401"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510195" y="-1660797"/>
            <a:ext cx="4897794" cy="3321595"/>
          </a:xfrm>
          <a:custGeom>
            <a:avLst/>
            <a:gdLst/>
            <a:ahLst/>
            <a:cxnLst/>
            <a:rect r="r" b="b" t="t" l="l"/>
            <a:pathLst>
              <a:path h="3321595" w="4897794">
                <a:moveTo>
                  <a:pt x="0" y="0"/>
                </a:moveTo>
                <a:lnTo>
                  <a:pt x="4897794" y="0"/>
                </a:lnTo>
                <a:lnTo>
                  <a:pt x="4897794" y="3321594"/>
                </a:lnTo>
                <a:lnTo>
                  <a:pt x="0" y="3321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180810" y="5528159"/>
            <a:ext cx="1078490" cy="1011820"/>
          </a:xfrm>
          <a:custGeom>
            <a:avLst/>
            <a:gdLst/>
            <a:ahLst/>
            <a:cxnLst/>
            <a:rect r="r" b="b" t="t" l="l"/>
            <a:pathLst>
              <a:path h="1011820" w="1078490">
                <a:moveTo>
                  <a:pt x="0" y="0"/>
                </a:moveTo>
                <a:lnTo>
                  <a:pt x="1078490" y="0"/>
                </a:lnTo>
                <a:lnTo>
                  <a:pt x="1078490" y="1011820"/>
                </a:lnTo>
                <a:lnTo>
                  <a:pt x="0" y="1011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false" rot="0">
            <a:off x="1010369" y="5528159"/>
            <a:ext cx="1078490" cy="1011820"/>
          </a:xfrm>
          <a:custGeom>
            <a:avLst/>
            <a:gdLst/>
            <a:ahLst/>
            <a:cxnLst/>
            <a:rect r="r" b="b" t="t" l="l"/>
            <a:pathLst>
              <a:path h="1011820" w="1078490">
                <a:moveTo>
                  <a:pt x="1078490" y="0"/>
                </a:moveTo>
                <a:lnTo>
                  <a:pt x="0" y="0"/>
                </a:lnTo>
                <a:lnTo>
                  <a:pt x="0" y="1011820"/>
                </a:lnTo>
                <a:lnTo>
                  <a:pt x="1078490" y="1011820"/>
                </a:lnTo>
                <a:lnTo>
                  <a:pt x="107849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732093" y="4303008"/>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7109" y="4284379"/>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5920133" y="-1028174"/>
            <a:ext cx="3573631" cy="3203273"/>
          </a:xfrm>
          <a:custGeom>
            <a:avLst/>
            <a:gdLst/>
            <a:ahLst/>
            <a:cxnLst/>
            <a:rect r="r" b="b" t="t" l="l"/>
            <a:pathLst>
              <a:path h="3203273" w="3573631">
                <a:moveTo>
                  <a:pt x="3573631" y="3203272"/>
                </a:moveTo>
                <a:lnTo>
                  <a:pt x="0" y="3203272"/>
                </a:lnTo>
                <a:lnTo>
                  <a:pt x="0" y="0"/>
                </a:lnTo>
                <a:lnTo>
                  <a:pt x="3573631" y="0"/>
                </a:lnTo>
                <a:lnTo>
                  <a:pt x="3573631" y="320327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05764" y="8149159"/>
            <a:ext cx="3532066" cy="3166015"/>
          </a:xfrm>
          <a:custGeom>
            <a:avLst/>
            <a:gdLst/>
            <a:ahLst/>
            <a:cxnLst/>
            <a:rect r="r" b="b" t="t" l="l"/>
            <a:pathLst>
              <a:path h="3166015" w="3532066">
                <a:moveTo>
                  <a:pt x="0" y="0"/>
                </a:moveTo>
                <a:lnTo>
                  <a:pt x="3532066" y="0"/>
                </a:lnTo>
                <a:lnTo>
                  <a:pt x="3532066" y="3166015"/>
                </a:lnTo>
                <a:lnTo>
                  <a:pt x="0" y="31660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250499" y="2622624"/>
            <a:ext cx="15787003" cy="5250460"/>
          </a:xfrm>
          <a:prstGeom prst="rect">
            <a:avLst/>
          </a:prstGeom>
        </p:spPr>
        <p:txBody>
          <a:bodyPr anchor="t" rtlCol="false" tIns="0" lIns="0" bIns="0" rIns="0">
            <a:spAutoFit/>
          </a:bodyPr>
          <a:lstStyle/>
          <a:p>
            <a:pPr algn="ctr">
              <a:lnSpc>
                <a:spcPts val="20516"/>
              </a:lnSpc>
            </a:pPr>
            <a:r>
              <a:rPr lang="en-US" sz="18651">
                <a:solidFill>
                  <a:srgbClr val="000000"/>
                </a:solidFill>
                <a:latin typeface="Rubik One"/>
                <a:ea typeface="Rubik One"/>
                <a:cs typeface="Rubik One"/>
                <a:sym typeface="Rubik One"/>
              </a:rPr>
              <a:t>SILAHKAN BERTANYA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EE3E7">
                <a:alpha val="100000"/>
              </a:srgbClr>
            </a:gs>
            <a:gs pos="100000">
              <a:srgbClr val="A6E5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732093" y="4303008"/>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97109" y="4284379"/>
            <a:ext cx="5322984" cy="1699613"/>
          </a:xfrm>
          <a:custGeom>
            <a:avLst/>
            <a:gdLst/>
            <a:ahLst/>
            <a:cxnLst/>
            <a:rect r="r" b="b" t="t" l="l"/>
            <a:pathLst>
              <a:path h="1699613" w="5322984">
                <a:moveTo>
                  <a:pt x="0" y="0"/>
                </a:moveTo>
                <a:lnTo>
                  <a:pt x="5322984" y="0"/>
                </a:lnTo>
                <a:lnTo>
                  <a:pt x="5322984" y="1699613"/>
                </a:lnTo>
                <a:lnTo>
                  <a:pt x="0" y="1699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5920133" y="-1028174"/>
            <a:ext cx="3573631" cy="3203273"/>
          </a:xfrm>
          <a:custGeom>
            <a:avLst/>
            <a:gdLst/>
            <a:ahLst/>
            <a:cxnLst/>
            <a:rect r="r" b="b" t="t" l="l"/>
            <a:pathLst>
              <a:path h="3203273" w="3573631">
                <a:moveTo>
                  <a:pt x="3573631" y="3203272"/>
                </a:moveTo>
                <a:lnTo>
                  <a:pt x="0" y="3203272"/>
                </a:lnTo>
                <a:lnTo>
                  <a:pt x="0" y="0"/>
                </a:lnTo>
                <a:lnTo>
                  <a:pt x="3573631" y="0"/>
                </a:lnTo>
                <a:lnTo>
                  <a:pt x="3573631" y="320327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05764" y="8149159"/>
            <a:ext cx="3532066" cy="3166015"/>
          </a:xfrm>
          <a:custGeom>
            <a:avLst/>
            <a:gdLst/>
            <a:ahLst/>
            <a:cxnLst/>
            <a:rect r="r" b="b" t="t" l="l"/>
            <a:pathLst>
              <a:path h="3166015" w="3532066">
                <a:moveTo>
                  <a:pt x="0" y="0"/>
                </a:moveTo>
                <a:lnTo>
                  <a:pt x="3532066" y="0"/>
                </a:lnTo>
                <a:lnTo>
                  <a:pt x="3532066" y="3166015"/>
                </a:lnTo>
                <a:lnTo>
                  <a:pt x="0" y="31660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63357" y="2594681"/>
            <a:ext cx="11361286" cy="5250460"/>
          </a:xfrm>
          <a:prstGeom prst="rect">
            <a:avLst/>
          </a:prstGeom>
        </p:spPr>
        <p:txBody>
          <a:bodyPr anchor="t" rtlCol="false" tIns="0" lIns="0" bIns="0" rIns="0">
            <a:spAutoFit/>
          </a:bodyPr>
          <a:lstStyle/>
          <a:p>
            <a:pPr algn="ctr">
              <a:lnSpc>
                <a:spcPts val="20516"/>
              </a:lnSpc>
            </a:pPr>
            <a:r>
              <a:rPr lang="en-US" sz="18651">
                <a:solidFill>
                  <a:srgbClr val="000000"/>
                </a:solidFill>
                <a:latin typeface="Rubik One"/>
                <a:ea typeface="Rubik One"/>
                <a:cs typeface="Rubik One"/>
                <a:sym typeface="Rubik One"/>
              </a:rPr>
              <a:t>TERIMA KASIH</a:t>
            </a:r>
          </a:p>
        </p:txBody>
      </p:sp>
      <p:sp>
        <p:nvSpPr>
          <p:cNvPr name="Freeform 7" id="7"/>
          <p:cNvSpPr/>
          <p:nvPr/>
        </p:nvSpPr>
        <p:spPr>
          <a:xfrm flipH="false" flipV="true" rot="0">
            <a:off x="15900401" y="8626203"/>
            <a:ext cx="4897794" cy="3321595"/>
          </a:xfrm>
          <a:custGeom>
            <a:avLst/>
            <a:gdLst/>
            <a:ahLst/>
            <a:cxnLst/>
            <a:rect r="r" b="b" t="t" l="l"/>
            <a:pathLst>
              <a:path h="3321595" w="4897794">
                <a:moveTo>
                  <a:pt x="0" y="3321594"/>
                </a:moveTo>
                <a:lnTo>
                  <a:pt x="4897794" y="3321594"/>
                </a:lnTo>
                <a:lnTo>
                  <a:pt x="4897794" y="0"/>
                </a:lnTo>
                <a:lnTo>
                  <a:pt x="0" y="0"/>
                </a:lnTo>
                <a:lnTo>
                  <a:pt x="0" y="332159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510195" y="-1660797"/>
            <a:ext cx="4897794" cy="3321595"/>
          </a:xfrm>
          <a:custGeom>
            <a:avLst/>
            <a:gdLst/>
            <a:ahLst/>
            <a:cxnLst/>
            <a:rect r="r" b="b" t="t" l="l"/>
            <a:pathLst>
              <a:path h="3321595" w="4897794">
                <a:moveTo>
                  <a:pt x="0" y="0"/>
                </a:moveTo>
                <a:lnTo>
                  <a:pt x="4897794" y="0"/>
                </a:lnTo>
                <a:lnTo>
                  <a:pt x="4897794" y="3321594"/>
                </a:lnTo>
                <a:lnTo>
                  <a:pt x="0" y="3321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5223162" y="4656219"/>
            <a:ext cx="1078490" cy="1011820"/>
          </a:xfrm>
          <a:custGeom>
            <a:avLst/>
            <a:gdLst/>
            <a:ahLst/>
            <a:cxnLst/>
            <a:rect r="r" b="b" t="t" l="l"/>
            <a:pathLst>
              <a:path h="1011820" w="1078490">
                <a:moveTo>
                  <a:pt x="0" y="0"/>
                </a:moveTo>
                <a:lnTo>
                  <a:pt x="1078490" y="0"/>
                </a:lnTo>
                <a:lnTo>
                  <a:pt x="1078490" y="1011820"/>
                </a:lnTo>
                <a:lnTo>
                  <a:pt x="0" y="1011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1986348" y="4656219"/>
            <a:ext cx="1078490" cy="1011820"/>
          </a:xfrm>
          <a:custGeom>
            <a:avLst/>
            <a:gdLst/>
            <a:ahLst/>
            <a:cxnLst/>
            <a:rect r="r" b="b" t="t" l="l"/>
            <a:pathLst>
              <a:path h="1011820" w="1078490">
                <a:moveTo>
                  <a:pt x="1078490" y="0"/>
                </a:moveTo>
                <a:lnTo>
                  <a:pt x="0" y="0"/>
                </a:lnTo>
                <a:lnTo>
                  <a:pt x="0" y="1011820"/>
                </a:lnTo>
                <a:lnTo>
                  <a:pt x="1078490" y="1011820"/>
                </a:lnTo>
                <a:lnTo>
                  <a:pt x="107849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DAG6upuhLl0</dc:identifier>
  <dcterms:modified xsi:type="dcterms:W3CDTF">2011-08-01T06:04:30Z</dcterms:modified>
  <cp:revision>1</cp:revision>
  <dc:title>FinproPSD_Kelompok20</dc:title>
</cp:coreProperties>
</file>